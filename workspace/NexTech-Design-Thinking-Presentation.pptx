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2.png"/><Relationship Id="rId4" Type="http://schemas.openxmlformats.org/officeDocument/2006/relationships/image" Target="../media/image-21-2.png"/><Relationship Id="rId5" Type="http://schemas.openxmlformats.org/officeDocument/2006/relationships/image" Target="../media/image-21-2.png"/><Relationship Id="rId6" Type="http://schemas.openxmlformats.org/officeDocument/2006/relationships/image" Target="../media/image-21-6.png"/><Relationship Id="rId7" Type="http://schemas.openxmlformats.org/officeDocument/2006/relationships/image" Target="../media/image-21-6.png"/><Relationship Id="rId8" Type="http://schemas.openxmlformats.org/officeDocument/2006/relationships/image" Target="../media/image-21-6.png"/><Relationship Id="rId9" Type="http://schemas.openxmlformats.org/officeDocument/2006/relationships/image" Target="../media/image-21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asset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468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450" y="113838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519238"/>
            <a:ext cx="8595360" cy="56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Thinking Project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2146399"/>
            <a:ext cx="8595211" cy="56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NexTech Career App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267200" y="2875211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067394" y="3167211"/>
            <a:ext cx="50090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Mohau Mphanya · Sive Mtengwana · Lesedi Ledwaba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41493" y="3510111"/>
            <a:ext cx="5261015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 Plaatje University · Course: Technopreneurship (NTEC62110)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09226" y="3791843"/>
            <a:ext cx="92539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06301"/>
            <a:ext cx="8636000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spcAft>
                <a:spcPts val="800"/>
              </a:spcAft>
              <a:buNone/>
            </a:pPr>
            <a:r>
              <a:rPr lang="en-US" sz="1100" spc="300" kern="0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CRISIS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647551"/>
            <a:ext cx="863600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Youth Unemployment in South Africa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600" y="2162026"/>
            <a:ext cx="1879550" cy="1690092"/>
          </a:xfrm>
          <a:prstGeom prst="roundRect">
            <a:avLst>
              <a:gd name="adj" fmla="val 751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806" y="2476351"/>
            <a:ext cx="210713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46.1%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59198" y="3111252"/>
            <a:ext cx="158035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Youth Unemployment Rate (Q1 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6851" y="2162026"/>
            <a:ext cx="1816298" cy="1690092"/>
          </a:xfrm>
          <a:prstGeom prst="roundRect">
            <a:avLst>
              <a:gd name="adj" fmla="val 751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65708" y="2476351"/>
            <a:ext cx="2018586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818031" y="3111252"/>
            <a:ext cx="1513939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 for Ages 15–24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0850" y="2162026"/>
            <a:ext cx="1816298" cy="1690092"/>
          </a:xfrm>
          <a:prstGeom prst="roundRect">
            <a:avLst>
              <a:gd name="adj" fmla="val 751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59707" y="2476351"/>
            <a:ext cx="2018586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4.8%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812030" y="3111252"/>
            <a:ext cx="1513939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 Graduates Employed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54850" y="2162026"/>
            <a:ext cx="1879550" cy="1690092"/>
          </a:xfrm>
          <a:prstGeom prst="roundRect">
            <a:avLst>
              <a:gd name="adj" fmla="val 751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41056" y="2476351"/>
            <a:ext cx="210713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118K+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04448" y="3111252"/>
            <a:ext cx="158035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Unfilled Tech Jobs in SA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582104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Empathise: Research Methodology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908447"/>
            <a:ext cx="38100" cy="45720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0100" y="883146"/>
            <a:ext cx="8343900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One-on-One Interviews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" y="1238548"/>
            <a:ext cx="81210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Conducted 25+ interviews with unemployed youth across Kimberley and surrounding areas, aged 18–34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9600" y="1974949"/>
            <a:ext cx="38100" cy="45720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00100" y="1949648"/>
            <a:ext cx="8343900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News &amp; Labour Market Analysis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0100" y="2305050"/>
            <a:ext cx="81210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Reviewed Stats SA quarterly reports, local media coverage of youth unemployment trends and employer expectations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9600" y="3041452"/>
            <a:ext cx="38100" cy="45720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0100" y="3016151"/>
            <a:ext cx="8343900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Listening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0100" y="3371552"/>
            <a:ext cx="81210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Monitored conversations on Facebook, X, and LinkedIn where young job seekers share frustrations and experiences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9600" y="4107954"/>
            <a:ext cx="38100" cy="45720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0100" y="4082653"/>
            <a:ext cx="8343900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Engagement Sessions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0100" y="4438055"/>
            <a:ext cx="81210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Hosted 3 focus groups at community centres in Galeshewe, Homevale, and Roodepan to understand barriers first-hand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417165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Empathise: Key Findings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1680121"/>
            <a:ext cx="1777901" cy="249421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home/z/my-project/workspace/assets/icon-FaSearch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50" y="1908721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738" y="2492871"/>
            <a:ext cx="1493624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Platforms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51738" y="3031331"/>
            <a:ext cx="14936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portals are overwhelming and not designed for first-time job seekers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90651" y="1680121"/>
            <a:ext cx="1777901" cy="249421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/home/z/my-project/workspace/assets/icon-FaMobileAlt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002" y="1908721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32789" y="2492871"/>
            <a:ext cx="1493624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Mobile-Only Access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732789" y="3031331"/>
            <a:ext cx="14936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85%+ rely solely on smartphones; no desktop access for applications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71702" y="1795760"/>
            <a:ext cx="1777901" cy="2263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/home/z/my-project/workspace/assets/icon-FaChartLine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053" y="202436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21378" y="2608511"/>
            <a:ext cx="167854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Data Costs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713841" y="2915841"/>
            <a:ext cx="14936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 has some of the highest mobile data costs; downloading CVs is expensive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552754" y="1795760"/>
            <a:ext cx="1777901" cy="2263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/home/z/my-project/workspace/assets/icon-FaComments-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104" y="202436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59754" y="2608511"/>
            <a:ext cx="176389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Guidance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694892" y="2915841"/>
            <a:ext cx="14936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access to career coaching, interview prep, or professional networks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UserTi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442503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Empathise: User Personas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1281261"/>
            <a:ext cx="2438400" cy="3292078"/>
          </a:xfrm>
          <a:prstGeom prst="roundRect">
            <a:avLst>
              <a:gd name="adj" fmla="val 5208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09600" y="4554289"/>
            <a:ext cx="2438400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3501" y="1535162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home/z/my-project/workspace/assets/icon-FaGraduationC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51" y="1662113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3501" y="2246263"/>
            <a:ext cx="2393942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Thabiso, 22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3501" y="2561034"/>
            <a:ext cx="227810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 Graduate · Kimberley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63501" y="2869555"/>
            <a:ext cx="250977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Goal: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3501" y="3133576"/>
            <a:ext cx="202712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Support role at a local company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63501" y="3626197"/>
            <a:ext cx="239394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63501" y="3890218"/>
            <a:ext cx="202712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CV, never had an interview, doesn't know what ATS means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51150" y="1183481"/>
            <a:ext cx="2438400" cy="3487638"/>
          </a:xfrm>
          <a:prstGeom prst="roundRect">
            <a:avLst>
              <a:gd name="adj" fmla="val 5208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3251150" y="4652070"/>
            <a:ext cx="2438400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05051" y="1437382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/home/z/my-project/workspace/assets/icon-FaFileAl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002" y="1564332"/>
            <a:ext cx="304800" cy="304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05051" y="2148483"/>
            <a:ext cx="2509778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Nomsa, 26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505051" y="2463254"/>
            <a:ext cx="227810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Diploma Holder · Galeshewe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05051" y="2771775"/>
            <a:ext cx="250977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Goal: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505051" y="3035796"/>
            <a:ext cx="202712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or office management position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505051" y="3528417"/>
            <a:ext cx="239394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Points: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505051" y="3792438"/>
            <a:ext cx="2027128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 to 50+ jobs with no response; CV is not ATS-friendly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892701" y="1183481"/>
            <a:ext cx="2438400" cy="3487638"/>
          </a:xfrm>
          <a:prstGeom prst="roundRect">
            <a:avLst>
              <a:gd name="adj" fmla="val 5208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5892701" y="4652070"/>
            <a:ext cx="2438400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46602" y="1437382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3" descr="/home/z/my-project/workspace/assets/icon-FaCod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552" y="1564332"/>
            <a:ext cx="304800" cy="3048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146602" y="2148483"/>
            <a:ext cx="2509778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Lungi, 29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146602" y="2463254"/>
            <a:ext cx="227810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Self-Taught Coder · Roodepan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146602" y="2771775"/>
            <a:ext cx="250977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Goal: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146602" y="3035796"/>
            <a:ext cx="202712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Junior developer role at a tech startup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146602" y="3528417"/>
            <a:ext cx="239394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Points: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146602" y="3792438"/>
            <a:ext cx="2027128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formal qualifications; fails interviews due to nerves and poor prep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6776"/>
            <a:ext cx="10367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300" kern="0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73001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77528"/>
            <a:ext cx="8534400" cy="445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844129"/>
            <a:ext cx="7924800" cy="2578894"/>
          </a:xfrm>
          <a:prstGeom prst="roundRect">
            <a:avLst>
              <a:gd name="adj" fmla="val 492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848892"/>
            <a:ext cx="79248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29637" y="1844129"/>
            <a:ext cx="0" cy="257889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" y="4418261"/>
            <a:ext cx="79248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412" y="1844129"/>
            <a:ext cx="0" cy="2578894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2775" y="2158454"/>
            <a:ext cx="7514377" cy="210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Young South African job seekers aged 15–34 face a </a:t>
            </a:r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6B2B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access and guidance gap</a:t>
            </a:r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that prevents them from translating their qualifications into employment. Despite holding matric certificates, diplomas, and degrees, they encounter </a:t>
            </a:r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6B2B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digital platforms</a:t>
            </a:r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6B2B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mobile-only internet access</a:t>
            </a:r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6B2B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data costs</a:t>
            </a:r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and a </a:t>
            </a:r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6B2B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absence of career guidance</a:t>
            </a:r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resulting in one of the highest youth unemployment rates globally.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Bullsey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650676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Define: Root Cause Analysis — 5 Whys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108361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4885" y="1185118"/>
            <a:ext cx="11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7550" y="1136898"/>
            <a:ext cx="7199025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are youth unemployed?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They cannot successfully apply for and secure jobs.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7301" y="1540669"/>
            <a:ext cx="25301" cy="20315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9600" y="184532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44885" y="1946821"/>
            <a:ext cx="11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17550" y="1898600"/>
            <a:ext cx="7821781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can't they secure jobs?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Their applications are rejected or never seen by employers.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7301" y="2302371"/>
            <a:ext cx="25301" cy="20315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9600" y="260702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0AA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44885" y="2708523"/>
            <a:ext cx="11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7550" y="2660303"/>
            <a:ext cx="7861727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are applications rejected?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Resumes fail ATS filters and lack professional formatting.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7301" y="3064073"/>
            <a:ext cx="25301" cy="20315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09600" y="343986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44885" y="3541365"/>
            <a:ext cx="11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7550" y="3368725"/>
            <a:ext cx="7787692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resumes fail?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Youth lack knowledge of ATS systems, professional standards, and SA job market norms.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87301" y="3968204"/>
            <a:ext cx="25301" cy="20315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9600" y="434399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44885" y="4445496"/>
            <a:ext cx="11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17550" y="4272855"/>
            <a:ext cx="7787692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Cause: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There is 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accessible, affordable, AI-powered tool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tailored to South African job seekers that guides them through the entire application process.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Lightbulb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563928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Define: How Might We Statements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987326"/>
            <a:ext cx="7924800" cy="1157883"/>
          </a:xfrm>
          <a:prstGeom prst="roundRect">
            <a:avLst>
              <a:gd name="adj" fmla="val 109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33412" y="987326"/>
            <a:ext cx="0" cy="1157883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2025" y="1241227"/>
            <a:ext cx="7630954" cy="70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HMW 1:</a:t>
            </a:r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How might we bridge the gap between having qualifications and successfully applying for jobs in South Africa?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600" y="2348359"/>
            <a:ext cx="7924800" cy="1157883"/>
          </a:xfrm>
          <a:prstGeom prst="roundRect">
            <a:avLst>
              <a:gd name="adj" fmla="val 109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33412" y="2348359"/>
            <a:ext cx="0" cy="1157883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2025" y="2602260"/>
            <a:ext cx="7630954" cy="70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HMW 2:</a:t>
            </a:r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How might we make professional career tools accessible to youth who only have a smartphone?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600" y="3709392"/>
            <a:ext cx="7924800" cy="1157883"/>
          </a:xfrm>
          <a:prstGeom prst="roundRect">
            <a:avLst>
              <a:gd name="adj" fmla="val 109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33412" y="3709392"/>
            <a:ext cx="0" cy="1157883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2025" y="3963293"/>
            <a:ext cx="7630954" cy="70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HMW 3:</a:t>
            </a:r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How might we equip first-time job seekers with the confidence and skills to ace their interviews?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Lightbulb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360889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Ideate: Solution Ideas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914251"/>
            <a:ext cx="1498550" cy="3355777"/>
          </a:xfrm>
          <a:prstGeom prst="roundRect">
            <a:avLst>
              <a:gd name="adj" fmla="val 847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30201" y="10919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/home/z/my-project/workspace/assets/icon-FaBrai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850" y="1193602"/>
            <a:ext cx="253901" cy="2539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2156" y="1676102"/>
            <a:ext cx="1253438" cy="694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Career Companion App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32156" y="2395686"/>
            <a:ext cx="1253438" cy="126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 with AI-powered resume builder, analyzer, cover letter generator, and interview coach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260550" y="914251"/>
            <a:ext cx="1498550" cy="3355777"/>
          </a:xfrm>
          <a:prstGeom prst="roundRect">
            <a:avLst>
              <a:gd name="adj" fmla="val 847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781151" y="10919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/home/z/my-project/workspace/assets/icon-FaDesktop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801" y="1193602"/>
            <a:ext cx="253901" cy="2539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83107" y="1676102"/>
            <a:ext cx="1253438" cy="46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Career Kiosks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383107" y="2181225"/>
            <a:ext cx="1253438" cy="105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kiosks at community centres with pre-loaded career tools and templates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911501" y="914251"/>
            <a:ext cx="1498550" cy="3355777"/>
          </a:xfrm>
          <a:prstGeom prst="roundRect">
            <a:avLst>
              <a:gd name="adj" fmla="val 847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432102" y="10919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/home/z/my-project/workspace/assets/icon-FaHandshak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751" y="1193602"/>
            <a:ext cx="253901" cy="2539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34057" y="1676102"/>
            <a:ext cx="1253438" cy="694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 Mentorship Platform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034057" y="2395686"/>
            <a:ext cx="1253438" cy="105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youth with employed professionals for guidance and CV reviews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562451" y="914251"/>
            <a:ext cx="1498550" cy="3355777"/>
          </a:xfrm>
          <a:prstGeom prst="roundRect">
            <a:avLst>
              <a:gd name="adj" fmla="val 847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083052" y="10919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home/z/my-project/workspace/assets/icon-FaWhatsap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702" y="1193602"/>
            <a:ext cx="253901" cy="25390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85007" y="1676102"/>
            <a:ext cx="1253438" cy="46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Career Bot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685007" y="2181225"/>
            <a:ext cx="1253438" cy="126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 on WhatsApp for basic career advice and document formatting tips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213402" y="914251"/>
            <a:ext cx="1498550" cy="3355777"/>
          </a:xfrm>
          <a:prstGeom prst="roundRect">
            <a:avLst>
              <a:gd name="adj" fmla="val 847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7734002" y="10919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/home/z/my-project/workspace/assets/icon-FaChalkboardTeacher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652" y="1193602"/>
            <a:ext cx="253901" cy="25390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335958" y="1676102"/>
            <a:ext cx="1253438" cy="46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Workshops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335958" y="2181225"/>
            <a:ext cx="1253438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In-person career workshops at community centres with facilitators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09600" y="4422428"/>
            <a:ext cx="7924800" cy="467171"/>
          </a:xfrm>
          <a:prstGeom prst="roundRect">
            <a:avLst>
              <a:gd name="adj" fmla="val 21748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3"/>
          <p:cNvSpPr/>
          <p:nvPr/>
        </p:nvSpPr>
        <p:spPr>
          <a:xfrm>
            <a:off x="628650" y="4422428"/>
            <a:ext cx="0" cy="46717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50850" y="4549378"/>
            <a:ext cx="8228439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Selected: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AI Career Companion App — most scalable, accessible, and comprehensive solution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90946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Ideate: Idea Evaluation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684139"/>
            <a:ext cx="7924800" cy="435471"/>
          </a:xfrm>
          <a:prstGeom prst="roundRect">
            <a:avLst>
              <a:gd name="adj" fmla="val 23331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811089"/>
            <a:ext cx="198120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76272" y="1811089"/>
            <a:ext cx="113385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1811089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1811089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19472" y="1811089"/>
            <a:ext cx="113385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33872" y="1811089"/>
            <a:ext cx="113385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20840" y="1811089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119610"/>
            <a:ext cx="7924800" cy="410170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29637" y="2119610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363" y="2119610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1525" y="2233910"/>
            <a:ext cx="188976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Career 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58365" y="223391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72765" y="223391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87165" y="223391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01565" y="223391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15965" y="223391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93789" y="2233910"/>
            <a:ext cx="126187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23/25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2529780"/>
            <a:ext cx="7924800" cy="41017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529637" y="2529780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363" y="2529780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1525" y="2644080"/>
            <a:ext cx="188976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Kiosks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58365" y="264408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★★☆☆☆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72765" y="264408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★★☆☆☆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87165" y="264408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★★★☆☆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01565" y="264408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★☆☆☆☆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15965" y="2644080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★★★☆☆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93789" y="2644080"/>
            <a:ext cx="126187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11/25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9600" y="2939951"/>
            <a:ext cx="7924800" cy="410170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8529637" y="2939951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363" y="2939951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1525" y="3054251"/>
            <a:ext cx="17983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Mentorship Platform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58365" y="305425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★★★☆☆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72765" y="305425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87165" y="305425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01565" y="305425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★☆☆☆☆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15965" y="305425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★★★☆☆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93789" y="3054251"/>
            <a:ext cx="126187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13/25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9600" y="3350121"/>
            <a:ext cx="7924800" cy="41017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529637" y="3350121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4363" y="3350121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1525" y="3464421"/>
            <a:ext cx="188976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Bot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158365" y="346442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★★★★☆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072765" y="346442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987165" y="346442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01565" y="346442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★★☆☆☆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15965" y="346442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★★☆☆☆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93789" y="3464421"/>
            <a:ext cx="126187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15/25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9600" y="3760291"/>
            <a:ext cx="7924800" cy="410170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62000" y="3874591"/>
            <a:ext cx="17983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Workshops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148840" y="387459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★☆☆☆☆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063240" y="387459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★★★☆☆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977640" y="387459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★★☆☆☆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92040" y="387459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☆☆☆☆☆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06440" y="3874591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★★☆☆☆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84264" y="3874591"/>
            <a:ext cx="126187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8/25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TimesCirc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591889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Ideate: Discarded Ideas &amp; Rationale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1288405"/>
            <a:ext cx="2438400" cy="3277642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09600" y="1307455"/>
            <a:ext cx="2438400" cy="0"/>
          </a:xfrm>
          <a:prstGeom prst="line">
            <a:avLst/>
          </a:prstGeom>
          <a:noFill/>
          <a:ln w="38100">
            <a:solidFill>
              <a:srgbClr val="70AA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8200" y="1555105"/>
            <a:ext cx="23378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Career Kiosks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8200" y="1904256"/>
            <a:ext cx="2080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installations at community centres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8200" y="2488406"/>
            <a:ext cx="245668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Discarded: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8200" y="2737247"/>
            <a:ext cx="1981200" cy="169621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hardware and maintenance costs</a:t>
            </a:r>
            <a:endParaRPr lang="en-US" sz="11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geographic reach</a:t>
            </a:r>
            <a:endParaRPr lang="en-US" sz="11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scalability beyond installation sites</a:t>
            </a:r>
            <a:endParaRPr lang="en-US" sz="11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 on physical infrastructure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51150" y="1288405"/>
            <a:ext cx="2438400" cy="3277642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51150" y="1307455"/>
            <a:ext cx="2438400" cy="0"/>
          </a:xfrm>
          <a:prstGeom prst="line">
            <a:avLst/>
          </a:prstGeom>
          <a:noFill/>
          <a:ln w="38100">
            <a:solidFill>
              <a:srgbClr val="70AA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9750" y="1555105"/>
            <a:ext cx="23378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Career Bot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479750" y="1904256"/>
            <a:ext cx="2080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 for basic career tips via WhatsApp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79750" y="2488406"/>
            <a:ext cx="245668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Discarded: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9750" y="2737247"/>
            <a:ext cx="1981200" cy="169621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functionality (text only)</a:t>
            </a:r>
            <a:endParaRPr lang="en-US" sz="11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Cannot generate documents</a:t>
            </a:r>
            <a:endParaRPr lang="en-US" sz="11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structured interview practice</a:t>
            </a:r>
            <a:endParaRPr lang="en-US" sz="11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API costs are significant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92701" y="1164580"/>
            <a:ext cx="2438400" cy="3525292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892701" y="1183630"/>
            <a:ext cx="2438400" cy="0"/>
          </a:xfrm>
          <a:prstGeom prst="line">
            <a:avLst/>
          </a:prstGeom>
          <a:noFill/>
          <a:ln w="38100">
            <a:solidFill>
              <a:srgbClr val="70AA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1301" y="1431280"/>
            <a:ext cx="20802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Workshops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21301" y="2028081"/>
            <a:ext cx="2080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In-person facilitated career sessions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21301" y="2612231"/>
            <a:ext cx="245668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Discarded: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1301" y="2861072"/>
            <a:ext cx="1981200" cy="169621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scalable nationally</a:t>
            </a:r>
            <a:endParaRPr lang="en-US" sz="11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facilitator costs per user</a:t>
            </a:r>
            <a:endParaRPr lang="en-US" sz="11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frequency and availability</a:t>
            </a:r>
            <a:endParaRPr lang="en-US" sz="11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personalisation for individual needs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Rock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550" y="1027658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5550" y="1891159"/>
            <a:ext cx="2720340" cy="170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NexTech</a:t>
            </a:r>
            <a:endParaRPr lang="en-US" sz="3600" dirty="0"/>
          </a:p>
          <a:p>
            <a:pPr algn="l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</a:t>
            </a:r>
            <a:endParaRPr lang="en-US" sz="3600" dirty="0"/>
          </a:p>
          <a:p>
            <a:pPr algn="l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55550" y="3671292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55550" y="3887093"/>
            <a:ext cx="3057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400"/>
              </a:spcBef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Phase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759101" y="1230064"/>
            <a:ext cx="50750" cy="45720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936802" y="1179314"/>
            <a:ext cx="5207198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Mobile Career Support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36802" y="1494086"/>
            <a:ext cx="4987498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comprehensive mobile-first application that guides South African youth through every step of the job application process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59101" y="2217539"/>
            <a:ext cx="50750" cy="45720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936802" y="2166789"/>
            <a:ext cx="5207198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Mobile-Only Users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936802" y="2481560"/>
            <a:ext cx="4987498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for smartphone-first access, low data consumption, and offline document viewing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59101" y="3205014"/>
            <a:ext cx="50750" cy="45720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936802" y="3154263"/>
            <a:ext cx="5207198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SA-Specific Templates &amp; Guidance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936802" y="3469035"/>
            <a:ext cx="4987498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Locally relevant CV formats, SA labour law references, and B-BBEE compliance awareness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Cog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419118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Prototype: Core Features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914251"/>
            <a:ext cx="3759101" cy="1549301"/>
          </a:xfrm>
          <a:prstGeom prst="roundRect">
            <a:avLst>
              <a:gd name="adj" fmla="val 819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33412" y="914251"/>
            <a:ext cx="0" cy="1549301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pic>
        <p:nvPicPr>
          <p:cNvPr id="7" name="Image 1" descr="/home/z/my-project/workspace/assets/icon-FaFileAlt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26" y="1142851"/>
            <a:ext cx="304800" cy="30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2876" y="1163241"/>
            <a:ext cx="1917996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Builder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1126" y="1549152"/>
            <a:ext cx="336385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guided CV creation with SA-specific templates, ATS keyword suggestions, and real-time scoring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9600" y="2641253"/>
            <a:ext cx="3759101" cy="1549301"/>
          </a:xfrm>
          <a:prstGeom prst="roundRect">
            <a:avLst>
              <a:gd name="adj" fmla="val 819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33412" y="2641253"/>
            <a:ext cx="0" cy="1549301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pic>
        <p:nvPicPr>
          <p:cNvPr id="12" name="Image 2" descr="/home/z/my-project/workspace/assets/icon-FaClipboardCheck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26" y="2869853"/>
            <a:ext cx="304800" cy="304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42876" y="2890242"/>
            <a:ext cx="1989743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Analyzer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1126" y="3276154"/>
            <a:ext cx="336385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existing CV and receive AI-powered analysis with ATS score, skill gap identification, and improved version generation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46402" y="914251"/>
            <a:ext cx="3759101" cy="1549301"/>
          </a:xfrm>
          <a:prstGeom prst="roundRect">
            <a:avLst>
              <a:gd name="adj" fmla="val 819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4570214" y="914251"/>
            <a:ext cx="0" cy="1549301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pic>
        <p:nvPicPr>
          <p:cNvPr id="17" name="Image 3" descr="/home/z/my-project/workspace/assets/icon-FaPaintBrush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927" y="1142851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79678" y="1163241"/>
            <a:ext cx="2624423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Letter Generator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847927" y="1549152"/>
            <a:ext cx="336385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AI-crafted cover letters tailored to each job application, with multiple tone options and auto-populated from resume data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46402" y="2641253"/>
            <a:ext cx="3759101" cy="1549301"/>
          </a:xfrm>
          <a:prstGeom prst="roundRect">
            <a:avLst>
              <a:gd name="adj" fmla="val 819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4570214" y="2641253"/>
            <a:ext cx="0" cy="1549301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pic>
        <p:nvPicPr>
          <p:cNvPr id="22" name="Image 4" descr="/home/z/my-project/workspace/assets/icon-FaMicrophone-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927" y="2869853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79678" y="2890242"/>
            <a:ext cx="2144813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Interview Coach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847927" y="3276154"/>
            <a:ext cx="336385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Voice-enabled mock interviews with real-time AI feedback, context-aware questions based on your resume, and scoring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556877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Prototype: Technical Architecture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498550" y="1555700"/>
            <a:ext cx="2286000" cy="507950"/>
          </a:xfrm>
          <a:prstGeom prst="roundRect">
            <a:avLst>
              <a:gd name="adj" fmla="val 1500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29358" y="1727150"/>
            <a:ext cx="2624599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Frontend: Next.js 16 + React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44501" y="2139851"/>
            <a:ext cx="2793950" cy="507950"/>
          </a:xfrm>
          <a:prstGeom prst="roundRect">
            <a:avLst>
              <a:gd name="adj" fmla="val 15001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41562" y="2311301"/>
            <a:ext cx="2595622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+ Tailwind CSS 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90600" y="2724001"/>
            <a:ext cx="3301901" cy="507950"/>
          </a:xfrm>
          <a:prstGeom prst="roundRect">
            <a:avLst>
              <a:gd name="adj" fmla="val 15001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318617" y="2895451"/>
            <a:ext cx="312194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Routes + Zustand State Mgmt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6550" y="3308152"/>
            <a:ext cx="3810000" cy="507950"/>
          </a:xfrm>
          <a:prstGeom prst="roundRect">
            <a:avLst>
              <a:gd name="adj" fmla="val 15001"/>
            </a:avLst>
          </a:prstGeom>
          <a:solidFill>
            <a:srgbClr val="70AA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172021" y="3479602"/>
            <a:ext cx="3468088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Integration Layer (LLM + TTS/ASR)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9600" y="3892302"/>
            <a:ext cx="4063901" cy="507950"/>
          </a:xfrm>
          <a:prstGeom prst="roundRect">
            <a:avLst>
              <a:gd name="adj" fmla="val 15001"/>
            </a:avLst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400919" y="4063752"/>
            <a:ext cx="2927890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Prisma ORM + SQLite Database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38576" y="1327993"/>
            <a:ext cx="0" cy="691753"/>
          </a:xfrm>
          <a:prstGeom prst="line">
            <a:avLst/>
          </a:prstGeom>
          <a:noFill/>
          <a:ln w="19050">
            <a:solidFill>
              <a:srgbClr val="1E5F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00501" y="1327993"/>
            <a:ext cx="3667289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16 App Router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00501" y="1593205"/>
            <a:ext cx="350059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Server-side rendering, API routes, and optimal performance for mobile-first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38576" y="2197447"/>
            <a:ext cx="0" cy="691753"/>
          </a:xfrm>
          <a:prstGeom prst="line">
            <a:avLst/>
          </a:prstGeom>
          <a:noFill/>
          <a:ln w="19050">
            <a:solidFill>
              <a:srgbClr val="4085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00501" y="2197447"/>
            <a:ext cx="3867323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00501" y="2462659"/>
            <a:ext cx="350059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Language Model for content generation, TTS/ASR for voice interviews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38576" y="3066901"/>
            <a:ext cx="0" cy="691753"/>
          </a:xfrm>
          <a:prstGeom prst="line">
            <a:avLst/>
          </a:prstGeom>
          <a:noFill/>
          <a:ln w="19050">
            <a:solidFill>
              <a:srgbClr val="70AA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00501" y="3066901"/>
            <a:ext cx="3667289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Prisma + SQLite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00501" y="3332113"/>
            <a:ext cx="350059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Lightweight, serverless-ready database with type-safe ORM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38576" y="3936355"/>
            <a:ext cx="0" cy="691753"/>
          </a:xfrm>
          <a:prstGeom prst="line">
            <a:avLst/>
          </a:prstGeom>
          <a:noFill/>
          <a:ln w="19050">
            <a:solidFill>
              <a:srgbClr val="A8CE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00501" y="3936355"/>
            <a:ext cx="3667289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shadcn/ui Components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200501" y="4201567"/>
            <a:ext cx="350059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Accessible, customisable UI components with consistent design language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ArrowRigh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351178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Prototype: User Flow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43000" y="149393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22040" y="1633538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2333" y="2078087"/>
            <a:ext cx="1318534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Up / Login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311598"/>
            <a:ext cx="128016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registration with email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0" y="149393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922240" y="1633538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36430" y="2078087"/>
            <a:ext cx="1070741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31720" y="2311598"/>
            <a:ext cx="128016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career goals and experience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43400" y="149393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22440" y="1633538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941957" y="2078087"/>
            <a:ext cx="1260086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Resume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31920" y="2311598"/>
            <a:ext cx="128016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CV creation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149393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122640" y="1633538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532120" y="2078087"/>
            <a:ext cx="1280160" cy="39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Cover Letter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32120" y="2494359"/>
            <a:ext cx="128016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AI-crafted for each job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43800" y="149393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722840" y="1633538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32320" y="2078087"/>
            <a:ext cx="1280160" cy="39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Interview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132320" y="2494359"/>
            <a:ext cx="128016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mock interview + feedback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44650" y="3009751"/>
            <a:ext cx="6654701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219200" y="3187452"/>
            <a:ext cx="3251150" cy="1274713"/>
          </a:xfrm>
          <a:prstGeom prst="roundRect">
            <a:avLst>
              <a:gd name="adj" fmla="val 7970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447800" y="3365153"/>
            <a:ext cx="3296861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Progression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447800" y="3655814"/>
            <a:ext cx="293364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 flow naturally from Resume → Cover Letter → Interview. Data auto-populates between tools — no re-entry needed.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673501" y="3187452"/>
            <a:ext cx="3251299" cy="1274713"/>
          </a:xfrm>
          <a:prstGeom prst="roundRect">
            <a:avLst>
              <a:gd name="adj" fmla="val 7970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02101" y="3365153"/>
            <a:ext cx="3297037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Career Guide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902101" y="3655814"/>
            <a:ext cx="293380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Context-aware floating guide offers tips, next-step suggestions, and progress tracking throughout the user journey.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Clipboard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439043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Test: Testing Methodology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1378446"/>
            <a:ext cx="3759101" cy="1472654"/>
          </a:xfrm>
          <a:prstGeom prst="roundRect">
            <a:avLst>
              <a:gd name="adj" fmla="val 86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63501" y="1581596"/>
            <a:ext cx="3771507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3501" y="1905446"/>
            <a:ext cx="3413864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young job seekers (ages 19–31) from Kimberley, including matric graduates, diploma holders, and self-taught developers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9600" y="3003500"/>
            <a:ext cx="3759101" cy="1472654"/>
          </a:xfrm>
          <a:prstGeom prst="roundRect">
            <a:avLst>
              <a:gd name="adj" fmla="val 86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63501" y="3206651"/>
            <a:ext cx="357642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Reviewers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3501" y="3530501"/>
            <a:ext cx="3413864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CAHAU representatives who sit on actual job interview boards and hiring panels in the Northern Cape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22602" y="1104751"/>
            <a:ext cx="3759101" cy="17463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76502" y="1307902"/>
            <a:ext cx="357642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Methods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76502" y="1631752"/>
            <a:ext cx="3251299" cy="10771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Task-based usability testing</a:t>
            </a:r>
            <a:endParaRPr lang="en-US" sz="13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Think-aloud protocol</a:t>
            </a:r>
            <a:endParaRPr lang="en-US" sz="13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Usability Scale (SUS)</a:t>
            </a:r>
            <a:endParaRPr lang="en-US" sz="13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heuristic evaluation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622602" y="3003500"/>
            <a:ext cx="3759101" cy="17463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76502" y="3206651"/>
            <a:ext cx="357642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Tasks Tested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76502" y="3530501"/>
            <a:ext cx="3251299" cy="10771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resume from scratch</a:t>
            </a:r>
            <a:endParaRPr lang="en-US" sz="13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and improve an existing CV</a:t>
            </a:r>
            <a:endParaRPr lang="en-US" sz="13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a cover letter for a job</a:t>
            </a:r>
            <a:endParaRPr lang="en-US" sz="13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a mock interview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4376"/>
            <a:ext cx="24647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300" kern="0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469850"/>
            <a:ext cx="863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Test: Key Findings &amp; CAHAU Feedback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01601"/>
            <a:ext cx="2489150" cy="3388816"/>
          </a:xfrm>
          <a:prstGeom prst="roundRect">
            <a:avLst>
              <a:gd name="adj" fmla="val 5102"/>
            </a:avLst>
          </a:prstGeom>
          <a:solidFill>
            <a:srgbClr val="FF6B2B">
              <a:alpha val="12000"/>
            </a:srgbClr>
          </a:solidFill>
          <a:ln w="9525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z/my-project/workspace/assets/icon-FaStar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875" y="1063526"/>
            <a:ext cx="203150" cy="203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226" y="1073646"/>
            <a:ext cx="1799022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CAHAU Rave Review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9875" y="1342876"/>
            <a:ext cx="2273565" cy="105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CAHAU representatives who sit on job interview boards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6B2B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raved about the system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 They noted it addresses the exact gaps they see in candidates.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24051" y="901601"/>
            <a:ext cx="2489150" cy="3388816"/>
          </a:xfrm>
          <a:prstGeom prst="roundRect">
            <a:avLst>
              <a:gd name="adj" fmla="val 51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home/z/my-project/workspace/assets/icon-FaFileAl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976" y="1063526"/>
            <a:ext cx="203150" cy="203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5327" y="1073646"/>
            <a:ext cx="1571786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ATS Resume Gap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85976" y="1342876"/>
            <a:ext cx="2273565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noted the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6B2B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lack of ATS-optimised resumes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as the primary reason candidates are filtered out before human review.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740152" y="901601"/>
            <a:ext cx="2489150" cy="3388816"/>
          </a:xfrm>
          <a:prstGeom prst="roundRect">
            <a:avLst>
              <a:gd name="adj" fmla="val 51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home/z/my-project/workspace/assets/icon-FaMicropho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077" y="1063526"/>
            <a:ext cx="203150" cy="2031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81427" y="1073646"/>
            <a:ext cx="1629025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Prep Gap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902077" y="1342876"/>
            <a:ext cx="2273565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confirmed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6B2B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interview preparation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is a major disqualifier. NexTech users would have a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6B2B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significant advantage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07950" y="4366617"/>
            <a:ext cx="8128099" cy="599182"/>
          </a:xfrm>
          <a:prstGeom prst="roundRect">
            <a:avLst>
              <a:gd name="adj" fmla="val 16957"/>
            </a:avLst>
          </a:prstGeom>
          <a:solidFill>
            <a:srgbClr val="FF6B2B">
              <a:alpha val="15000"/>
            </a:srgbClr>
          </a:solidFill>
          <a:ln w="9525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95176" y="4477643"/>
            <a:ext cx="8141330" cy="40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"Candidates who used tools like NexTech would have a significant advantage in real interview processes." — CAHAU Representative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CheckCirc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399064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Test: Refinements Made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914251"/>
            <a:ext cx="3759101" cy="4026098"/>
          </a:xfrm>
          <a:prstGeom prst="roundRect">
            <a:avLst>
              <a:gd name="adj" fmla="val 3378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14400" y="11681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0AA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32570" y="1263402"/>
            <a:ext cx="154975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451" y="1202978"/>
            <a:ext cx="1963579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70AA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Testing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2156668"/>
            <a:ext cx="31495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802904"/>
            <a:ext cx="97802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944737" y="1802904"/>
            <a:ext cx="2500613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international formats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2616696"/>
            <a:ext cx="31495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262932"/>
            <a:ext cx="106963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389584" y="2262932"/>
            <a:ext cx="1975693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5-step process, 3+ min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3076724"/>
            <a:ext cx="31495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2722959"/>
            <a:ext cx="1642021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Letter Tones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806898" y="2722959"/>
            <a:ext cx="1483263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 only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" y="3182987"/>
            <a:ext cx="99856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Layout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865412" y="3182987"/>
            <a:ext cx="2308414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 overflow on small screens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1851" y="914251"/>
            <a:ext cx="3759101" cy="402609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9050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95701" y="11872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13871" y="1282452"/>
            <a:ext cx="154975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52752" y="1222028"/>
            <a:ext cx="172717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Testing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895701" y="2175718"/>
            <a:ext cx="31114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5701" y="1821954"/>
            <a:ext cx="97802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81874" y="1821954"/>
            <a:ext cx="2153769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SA-specific CV formats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895701" y="2635746"/>
            <a:ext cx="31114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95701" y="2281982"/>
            <a:ext cx="106963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025753" y="2281982"/>
            <a:ext cx="2337992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3-step, under 60 seconds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895701" y="3343275"/>
            <a:ext cx="31114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5701" y="2742009"/>
            <a:ext cx="1215777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Letter Tones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053584" y="2742009"/>
            <a:ext cx="2051194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options including casual SA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895701" y="3449538"/>
            <a:ext cx="100278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Layout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850731" y="3449538"/>
            <a:ext cx="2264189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responsive, no overflow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Troph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386767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Advantage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1379934"/>
            <a:ext cx="7924800" cy="451991"/>
          </a:xfrm>
          <a:prstGeom prst="roundRect">
            <a:avLst>
              <a:gd name="adj" fmla="val 22478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1506885"/>
            <a:ext cx="231127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330366" y="1506885"/>
            <a:ext cx="181597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NexTech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11080" y="1506885"/>
            <a:ext cx="1648343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CV Apps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24167" y="1506885"/>
            <a:ext cx="181597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62975" y="1506885"/>
            <a:ext cx="1732157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 Resume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9600" y="1831925"/>
            <a:ext cx="7924800" cy="41017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8529637" y="1831925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363" y="1831925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1525" y="1946225"/>
            <a:ext cx="209792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SA-Specific Templates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39891" y="1946225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36791" y="1946225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33692" y="1946225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30593" y="1946225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9600" y="2242096"/>
            <a:ext cx="7924800" cy="410170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8529637" y="2242096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4363" y="2242096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1525" y="2356396"/>
            <a:ext cx="209792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Resume Analysis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339891" y="235639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736791" y="235639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133692" y="235639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30593" y="235639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9600" y="2652266"/>
            <a:ext cx="7924800" cy="41017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8529637" y="2652266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4363" y="2652266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1525" y="2766566"/>
            <a:ext cx="209792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Interview Coach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381798" y="2766566"/>
            <a:ext cx="173215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+ AI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736791" y="276656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133692" y="276656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530593" y="276656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09600" y="3062436"/>
            <a:ext cx="7924800" cy="410170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8529637" y="3062436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4363" y="3062436"/>
            <a:ext cx="0" cy="41017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1525" y="3176736"/>
            <a:ext cx="209792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Design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339891" y="317673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736791" y="317673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175599" y="3176736"/>
            <a:ext cx="173215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Desktop-first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530593" y="3176736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09600" y="3472607"/>
            <a:ext cx="7924800" cy="59174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1"/>
          <p:cNvSpPr/>
          <p:nvPr/>
        </p:nvSpPr>
        <p:spPr>
          <a:xfrm>
            <a:off x="8529637" y="3472607"/>
            <a:ext cx="0" cy="591741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4363" y="3472607"/>
            <a:ext cx="0" cy="591741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1525" y="3586907"/>
            <a:ext cx="186679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Tool Flow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2514503" y="3586907"/>
            <a:ext cx="146674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 → CL → Interview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827590" y="3586907"/>
            <a:ext cx="163437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 only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5308305" y="3586907"/>
            <a:ext cx="146674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only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621392" y="3586907"/>
            <a:ext cx="163437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 only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609600" y="4064347"/>
            <a:ext cx="7924800" cy="410170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762000" y="4178647"/>
            <a:ext cx="220459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for Youth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2330366" y="4178647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727266" y="4178647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Freemium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166074" y="4178647"/>
            <a:ext cx="173215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req.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521068" y="4178647"/>
            <a:ext cx="18159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Freemium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Glob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3299147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Scalability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1098352"/>
            <a:ext cx="2438400" cy="1810196"/>
          </a:xfrm>
          <a:prstGeom prst="roundRect">
            <a:avLst>
              <a:gd name="adj" fmla="val 701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3911" y="1352252"/>
            <a:ext cx="2509778" cy="54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9.8M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15236" y="1961704"/>
            <a:ext cx="2027128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 Youth Aged 15–34 Potentially Reachable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51150" y="1098352"/>
            <a:ext cx="2438400" cy="1810196"/>
          </a:xfrm>
          <a:prstGeom prst="roundRect">
            <a:avLst>
              <a:gd name="adj" fmla="val 701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215461" y="1352252"/>
            <a:ext cx="2509778" cy="54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456786" y="1961704"/>
            <a:ext cx="2027128" cy="74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Interview Success Rate with ATS-Optimised CVs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92701" y="1098352"/>
            <a:ext cx="2438400" cy="1810196"/>
          </a:xfrm>
          <a:prstGeom prst="roundRect">
            <a:avLst>
              <a:gd name="adj" fmla="val 701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857012" y="1352252"/>
            <a:ext cx="2509778" cy="54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118K+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098337" y="1961704"/>
            <a:ext cx="2027128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Unfilled Tech Jobs NexTech Can Help Fill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9600" y="3111698"/>
            <a:ext cx="3860750" cy="1644551"/>
          </a:xfrm>
          <a:prstGeom prst="roundRect">
            <a:avLst>
              <a:gd name="adj" fmla="val 7722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63501" y="3314849"/>
            <a:ext cx="3688244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Scalability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3501" y="3638699"/>
            <a:ext cx="35205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Web-based PWA works on any smartphone. Can scale from Northern Cape to all 9 provinces with zero physical infrastructure. Partnership with universities, SETAs, and NYDA for distribution.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73501" y="3111698"/>
            <a:ext cx="3860899" cy="1644551"/>
          </a:xfrm>
          <a:prstGeom prst="roundRect">
            <a:avLst>
              <a:gd name="adj" fmla="val 7722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27402" y="3314849"/>
            <a:ext cx="3688407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Continental Potential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27402" y="3638699"/>
            <a:ext cx="3520753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mobile-first, AI-powered model applies across Sub-Saharan Africa. 60%+ of Africa's population is under 25, facing similar employment challenges. Localisation is straightforward.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workspace/assets/icon-FaRock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315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180975"/>
            <a:ext cx="457218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Vision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1525935"/>
            <a:ext cx="4360557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600" dirty="0"/>
          </a:p>
        </p:txBody>
      </p:sp>
      <p:pic>
        <p:nvPicPr>
          <p:cNvPr id="6" name="Image 1" descr="/home/z/my-project/workspace/assets/icon-FaCheckCircle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92957"/>
            <a:ext cx="203150" cy="203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251" y="1967657"/>
            <a:ext cx="362717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thinking uncovered the real problem: an access and guidance gap, not a skills gap</a:t>
            </a:r>
            <a:endParaRPr lang="en-US" sz="1300" dirty="0"/>
          </a:p>
        </p:txBody>
      </p:sp>
      <p:pic>
        <p:nvPicPr>
          <p:cNvPr id="8" name="Image 2" descr="/home/z/my-project/workspace/assets/icon-FaCheckCircle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14910"/>
            <a:ext cx="203150" cy="2031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251" y="2589609"/>
            <a:ext cx="362717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Career Companion App scored highest across all evaluation criteria</a:t>
            </a:r>
            <a:endParaRPr lang="en-US" sz="1300" dirty="0"/>
          </a:p>
        </p:txBody>
      </p:sp>
      <p:pic>
        <p:nvPicPr>
          <p:cNvPr id="10" name="Image 3" descr="/home/z/my-project/workspace/assets/icon-FaCheckCircle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236863"/>
            <a:ext cx="203150" cy="2031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251" y="3211562"/>
            <a:ext cx="362717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CAHAU validated that NexTech addresses real-world hiring gaps</a:t>
            </a:r>
            <a:endParaRPr lang="en-US" sz="1300" dirty="0"/>
          </a:p>
        </p:txBody>
      </p:sp>
      <p:pic>
        <p:nvPicPr>
          <p:cNvPr id="12" name="Image 4" descr="/home/z/my-project/workspace/assets/icon-FaCheckCircle-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58816"/>
            <a:ext cx="203150" cy="2031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251" y="3833515"/>
            <a:ext cx="362717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refined the product into a mobile-first, SA-optimised solution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876502" y="1083022"/>
            <a:ext cx="4135011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600" dirty="0"/>
          </a:p>
        </p:txBody>
      </p:sp>
      <p:pic>
        <p:nvPicPr>
          <p:cNvPr id="15" name="Image 5" descr="/home/z/my-project/workspace/assets/icon-FaArrowRight-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502" y="1550045"/>
            <a:ext cx="203150" cy="2031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81154" y="1524744"/>
            <a:ext cx="362717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matching algorithm connecting users with local employers</a:t>
            </a:r>
            <a:endParaRPr lang="en-US" sz="1300" dirty="0"/>
          </a:p>
        </p:txBody>
      </p:sp>
      <p:pic>
        <p:nvPicPr>
          <p:cNvPr id="17" name="Image 6" descr="/home/z/my-project/workspace/assets/icon-FaArrowRight-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502" y="2171998"/>
            <a:ext cx="203150" cy="2031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81154" y="2146697"/>
            <a:ext cx="362717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mode for low-connectivity areas in rural SA</a:t>
            </a:r>
            <a:endParaRPr lang="en-US" sz="1300" dirty="0"/>
          </a:p>
        </p:txBody>
      </p:sp>
      <p:pic>
        <p:nvPicPr>
          <p:cNvPr id="19" name="Image 7" descr="/home/z/my-project/workspace/assets/icon-FaArrowRight-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502" y="2793950"/>
            <a:ext cx="203150" cy="2031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181154" y="2768650"/>
            <a:ext cx="362717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Multi-language support (Afrikaans, Setswana, isiXhosa)</a:t>
            </a:r>
            <a:endParaRPr lang="en-US" sz="1300" dirty="0"/>
          </a:p>
        </p:txBody>
      </p:sp>
      <p:pic>
        <p:nvPicPr>
          <p:cNvPr id="21" name="Image 8" descr="/home/z/my-project/workspace/assets/icon-FaArrowRight-acc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502" y="3415903"/>
            <a:ext cx="203150" cy="20315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181154" y="3390602"/>
            <a:ext cx="362717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Partnerships with NYDA, SETAs, and universities for distribution</a:t>
            </a:r>
            <a:endParaRPr lang="en-US" sz="1300" dirty="0"/>
          </a:p>
        </p:txBody>
      </p:sp>
      <p:sp>
        <p:nvSpPr>
          <p:cNvPr id="23" name="Text 12"/>
          <p:cNvSpPr/>
          <p:nvPr/>
        </p:nvSpPr>
        <p:spPr>
          <a:xfrm>
            <a:off x="4876502" y="4088755"/>
            <a:ext cx="3759101" cy="682823"/>
          </a:xfrm>
          <a:prstGeom prst="roundRect">
            <a:avLst>
              <a:gd name="adj" fmla="val 14879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3"/>
          <p:cNvSpPr/>
          <p:nvPr/>
        </p:nvSpPr>
        <p:spPr>
          <a:xfrm>
            <a:off x="5054203" y="4215705"/>
            <a:ext cx="3573884" cy="46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to Action: Invest in youth, invest in NexTech.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assets/dar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468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450" y="80054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181398"/>
            <a:ext cx="8595360" cy="63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2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267200" y="1917799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147582" y="2209800"/>
            <a:ext cx="2848686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2800"/>
              </a:spcAft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63179" y="2885331"/>
            <a:ext cx="5417493" cy="1457474"/>
          </a:xfrm>
          <a:prstGeom prst="roundRect">
            <a:avLst>
              <a:gd name="adj" fmla="val 87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912138" y="3148757"/>
            <a:ext cx="531957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049713" y="3497907"/>
            <a:ext cx="504442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Mohau Mphanya · Sive Mtengwana · Lesedi Ledwaba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049713" y="3866108"/>
            <a:ext cx="5044425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 Plaatje University · Technopreneurship NTEC62110 · 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Project: NexTech Career App</dc:title>
  <dc:subject>Technopreneurship NTEC62110 - Sol Plaatje University</dc:subject>
  <dc:creator>Mohau Mphanya, Sive Mtengwana, Lesedi Ledwaba</dc:creator>
  <cp:lastModifiedBy>Mohau Mphanya, Sive Mtengwana, Lesedi Ledwaba</cp:lastModifiedBy>
  <cp:revision>1</cp:revision>
  <dcterms:created xsi:type="dcterms:W3CDTF">2026-05-13T09:16:42Z</dcterms:created>
  <dcterms:modified xsi:type="dcterms:W3CDTF">2026-05-13T09:16:42Z</dcterms:modified>
</cp:coreProperties>
</file>