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workspace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2A40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495800" y="1153418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274320" y="1661368"/>
            <a:ext cx="8595211" cy="592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32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NexTech Career App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274320" y="2260699"/>
            <a:ext cx="8595211" cy="39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80"/>
              </a:lnSpc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Bridging Skills to Employment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267200" y="2829520"/>
            <a:ext cx="6096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985695" y="3121521"/>
            <a:ext cx="5172611" cy="30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Aft>
                <a:spcPts val="3200"/>
              </a:spcAft>
              <a:buNone/>
            </a:pPr>
            <a:r>
              <a:rPr lang="en-US" sz="16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AI-Powered Career Platform for South Africa's Youth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76142" y="3812232"/>
            <a:ext cx="179156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Startup Pitch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workspace/assets/dark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2A40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09600" y="355550"/>
            <a:ext cx="13798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CRISIS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09600" y="584150"/>
            <a:ext cx="8534400" cy="394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spcBef>
                <a:spcPts val="600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09600" y="1026021"/>
            <a:ext cx="50795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6699" y="1267271"/>
            <a:ext cx="2438400" cy="1350764"/>
          </a:xfrm>
          <a:prstGeom prst="roundRect">
            <a:avLst>
              <a:gd name="adj" fmla="val 940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11135" y="1530697"/>
            <a:ext cx="2889528" cy="548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38170" y="2140148"/>
            <a:ext cx="2435459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Youth Unemployment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352800" y="1267271"/>
            <a:ext cx="2438400" cy="1350764"/>
          </a:xfrm>
          <a:prstGeom prst="roundRect">
            <a:avLst>
              <a:gd name="adj" fmla="val 940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127236" y="1530697"/>
            <a:ext cx="2889528" cy="548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3.5M+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292352" y="2140148"/>
            <a:ext cx="2559296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NEET Youth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68901" y="1267271"/>
            <a:ext cx="2438400" cy="1350764"/>
          </a:xfrm>
          <a:prstGeom prst="roundRect">
            <a:avLst>
              <a:gd name="adj" fmla="val 940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743337" y="1530697"/>
            <a:ext cx="2889528" cy="548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8%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970371" y="2140148"/>
            <a:ext cx="2435459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Digital Skills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36699" y="2770436"/>
            <a:ext cx="2438400" cy="826591"/>
          </a:xfrm>
          <a:prstGeom prst="roundRect">
            <a:avLst>
              <a:gd name="adj" fmla="val 1229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1" descr="/home/z/my-project/workspace/assets/icon-mobile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949" y="2932361"/>
            <a:ext cx="253901" cy="25390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38170" y="3237012"/>
            <a:ext cx="2435459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Mobile-Only Access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3352800" y="2770436"/>
            <a:ext cx="2438400" cy="826591"/>
          </a:xfrm>
          <a:prstGeom prst="roundRect">
            <a:avLst>
              <a:gd name="adj" fmla="val 1229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2" descr="/home/z/my-project/workspace/assets/icon-chart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50" y="2932361"/>
            <a:ext cx="253901" cy="25390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54270" y="3237012"/>
            <a:ext cx="2435459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Data Costs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68901" y="2770436"/>
            <a:ext cx="2438400" cy="826591"/>
          </a:xfrm>
          <a:prstGeom prst="roundRect">
            <a:avLst>
              <a:gd name="adj" fmla="val 12291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3" descr="/home/z/my-project/workspace/assets/icon-users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1150" y="2932361"/>
            <a:ext cx="253901" cy="25390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70371" y="3237012"/>
            <a:ext cx="2435459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 15-34 Affected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2215775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504182" y="255538"/>
            <a:ext cx="179709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NexTech Career App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09600" y="1500336"/>
            <a:ext cx="2438400" cy="1825377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09600" y="1524149"/>
            <a:ext cx="2438400" cy="0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pic>
        <p:nvPicPr>
          <p:cNvPr id="7" name="Image 0" descr="/home/z/my-project/workspace/assets/icon-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50" y="1852612"/>
            <a:ext cx="355550" cy="3555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9802" y="1801862"/>
            <a:ext cx="1653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Resume Builder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2750" y="2386013"/>
            <a:ext cx="2133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ATS-optimized CV generation with guided input and templates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51150" y="1500336"/>
            <a:ext cx="2438400" cy="1825377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251150" y="1524149"/>
            <a:ext cx="2438400" cy="0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pic>
        <p:nvPicPr>
          <p:cNvPr id="12" name="Image 1" descr="/home/z/my-project/workspace/assets/icon-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301" y="1801862"/>
            <a:ext cx="355550" cy="3555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11352" y="1865263"/>
            <a:ext cx="16032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 Letter AI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454301" y="2284363"/>
            <a:ext cx="21337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Tailored letters to job descriptions with one-click customization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892701" y="1500336"/>
            <a:ext cx="2438400" cy="1825377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2"/>
          <p:cNvSpPr/>
          <p:nvPr/>
        </p:nvSpPr>
        <p:spPr>
          <a:xfrm>
            <a:off x="5892701" y="1524149"/>
            <a:ext cx="2438400" cy="0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pic>
        <p:nvPicPr>
          <p:cNvPr id="17" name="Image 2" descr="/home/z/my-project/workspace/assets/icon-inter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1" y="1801862"/>
            <a:ext cx="355550" cy="3555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52902" y="1865263"/>
            <a:ext cx="172403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 Coach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095851" y="2284363"/>
            <a:ext cx="2133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Mock interviews with real-time feedback and scoring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09600" y="3554313"/>
            <a:ext cx="7924800" cy="799802"/>
          </a:xfrm>
          <a:prstGeom prst="roundRect">
            <a:avLst>
              <a:gd name="adj" fmla="val 1270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6"/>
          <p:cNvSpPr/>
          <p:nvPr/>
        </p:nvSpPr>
        <p:spPr>
          <a:xfrm>
            <a:off x="633412" y="3554313"/>
            <a:ext cx="0" cy="799802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11126" y="3706713"/>
            <a:ext cx="7737842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platform</a:t>
            </a:r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guiding young South Africans from skill discovery to employment readiness, powered by AI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104741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Resume Builder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96543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87043" y="255538"/>
            <a:ext cx="1634645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Deep Dive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1435447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4650" y="1410146"/>
            <a:ext cx="5126935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ATS-Optimized CV Generation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4650" y="1684437"/>
            <a:ext cx="51269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Formats your CV to pass Applicant Tracking Systems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600" y="2067669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4650" y="2042368"/>
            <a:ext cx="5126935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Step-by-Step Guided Input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4650" y="2316659"/>
            <a:ext cx="51269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Conversational AI walks users through each section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9600" y="2699891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74650" y="2674590"/>
            <a:ext cx="5126935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Templates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4650" y="2948880"/>
            <a:ext cx="51269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Pre-built for tech, finance, retail, and hospitality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9600" y="3332113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4650" y="3306812"/>
            <a:ext cx="5126935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AI Suggestions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4650" y="3581102"/>
            <a:ext cx="51269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feedback on phrasing, keywords, and impact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600" y="3964335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74650" y="3939034"/>
            <a:ext cx="5406586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Export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4650" y="4213324"/>
            <a:ext cx="5126935" cy="24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One-tap export for email or job portals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16352" y="1529358"/>
            <a:ext cx="2539901" cy="1671042"/>
          </a:xfrm>
          <a:prstGeom prst="roundRect">
            <a:avLst>
              <a:gd name="adj" fmla="val 7600"/>
            </a:avLst>
          </a:prstGeom>
          <a:solidFill>
            <a:srgbClr val="D8E9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2" name="Image 0" descr="/home/z/my-project/workspace/assets/icon-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2253" y="1757958"/>
            <a:ext cx="507950" cy="50795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649239" y="2367409"/>
            <a:ext cx="2874127" cy="38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5+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857509" y="2773710"/>
            <a:ext cx="2457587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Templates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816352" y="3378101"/>
            <a:ext cx="2539901" cy="947142"/>
          </a:xfrm>
          <a:prstGeom prst="roundRect">
            <a:avLst>
              <a:gd name="adj" fmla="val 13409"/>
            </a:avLst>
          </a:prstGeom>
          <a:solidFill>
            <a:srgbClr val="F0F6FA"/>
          </a:solidFill>
          <a:ln w="19050">
            <a:solidFill>
              <a:srgbClr val="D8E9F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691143" y="3574852"/>
            <a:ext cx="27903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ATS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5819927" y="3930402"/>
            <a:ext cx="2532751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400"/>
              </a:spcBef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Optimized for SA job portals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4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3301901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/home/z/my-project/workspace/assets/icon-cover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301" y="886718"/>
            <a:ext cx="609600" cy="60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301" y="1750219"/>
            <a:ext cx="2613764" cy="1514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Cover</a:t>
            </a:r>
            <a:endParaRPr lang="en-US" sz="3200" dirty="0"/>
          </a:p>
          <a:p>
            <a:pPr algn="l" indent="0" marL="0">
              <a:lnSpc>
                <a:spcPts val="368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Letter</a:t>
            </a:r>
            <a:endParaRPr lang="en-US" sz="3200" dirty="0"/>
          </a:p>
          <a:p>
            <a:pPr algn="l" indent="0" marL="0">
              <a:lnSpc>
                <a:spcPts val="368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Generator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06301" y="3355330"/>
            <a:ext cx="406301" cy="38100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406301" y="3596580"/>
            <a:ext cx="2613764" cy="53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1600"/>
              </a:spcBef>
              <a:spcAft>
                <a:spcPts val="1300"/>
              </a:spcAft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Professional letters in seconds, not hours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59101" y="698450"/>
            <a:ext cx="50750" cy="50795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3962251" y="647700"/>
            <a:ext cx="3419442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Tailored to Job Descriptions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962251" y="933450"/>
            <a:ext cx="4843730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analyzes the job posting and crafts a letter that matches the role requirements and company culture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759101" y="1717625"/>
            <a:ext cx="50750" cy="50795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3962251" y="1666875"/>
            <a:ext cx="273857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 Profile + CV Data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962251" y="1952625"/>
            <a:ext cx="4366014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Automatically pulls your skills, experience, and achievements from your NexTech profile and resume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59101" y="2736800"/>
            <a:ext cx="50750" cy="50795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962251" y="2686050"/>
            <a:ext cx="196182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Adjustable Tone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962251" y="2971800"/>
            <a:ext cx="4646362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Switch between professional, conversational, or creative tones depending on the company and industry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59101" y="3755975"/>
            <a:ext cx="50750" cy="50795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62251" y="3705225"/>
            <a:ext cx="3013591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One-Click Customization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3962251" y="3990975"/>
            <a:ext cx="4957963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Generate, edit, and regenerate specific paragraphs instantly without starting over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124274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Interview Coach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312170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02670" y="255538"/>
            <a:ext cx="200238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Makes Perfect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863501"/>
            <a:ext cx="3936950" cy="1051173"/>
          </a:xfrm>
          <a:prstGeom prst="roundRect">
            <a:avLst>
              <a:gd name="adj" fmla="val 1208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33412" y="863501"/>
            <a:ext cx="0" cy="1051173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5825" y="1041202"/>
            <a:ext cx="3775338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Mock Interview Simulation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5825" y="1310432"/>
            <a:ext cx="3603732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AI-powered conversations that adapt to your skill level in real time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2041624"/>
            <a:ext cx="3936950" cy="1051173"/>
          </a:xfrm>
          <a:prstGeom prst="roundRect">
            <a:avLst>
              <a:gd name="adj" fmla="val 1208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33412" y="2041624"/>
            <a:ext cx="0" cy="1051173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5825" y="2219325"/>
            <a:ext cx="3775338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Feedback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85825" y="2488555"/>
            <a:ext cx="3603732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 tips on answer structure, confidence, and clarity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3219748"/>
            <a:ext cx="3936950" cy="1051173"/>
          </a:xfrm>
          <a:prstGeom prst="roundRect">
            <a:avLst>
              <a:gd name="adj" fmla="val 1208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33412" y="3219748"/>
            <a:ext cx="0" cy="1051173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5825" y="3397448"/>
            <a:ext cx="3981265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System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5825" y="3666679"/>
            <a:ext cx="3603732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metrics across communication and knowledge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49701" y="863501"/>
            <a:ext cx="3555950" cy="1051173"/>
          </a:xfrm>
          <a:prstGeom prst="roundRect">
            <a:avLst>
              <a:gd name="adj" fmla="val 1208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3513" y="863501"/>
            <a:ext cx="0" cy="1051173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5926" y="1041202"/>
            <a:ext cx="3356238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Industry-Specific Questions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5926" y="1310432"/>
            <a:ext cx="3203682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Curated for tech, finance, retail, and government sectors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49701" y="2041624"/>
            <a:ext cx="3555950" cy="837902"/>
          </a:xfrm>
          <a:prstGeom prst="roundRect">
            <a:avLst>
              <a:gd name="adj" fmla="val 1515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773513" y="2041624"/>
            <a:ext cx="0" cy="837902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5926" y="2219325"/>
            <a:ext cx="3356238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 Tips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5926" y="2488555"/>
            <a:ext cx="3356238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Personalized action items after each session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49701" y="3006477"/>
            <a:ext cx="3555950" cy="1493044"/>
          </a:xfrm>
          <a:prstGeom prst="roundRect">
            <a:avLst>
              <a:gd name="adj" fmla="val 8506"/>
            </a:avLst>
          </a:prstGeom>
          <a:solidFill>
            <a:srgbClr val="D8E9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7" name="Image 0" descr="/home/z/my-project/workspace/assets/icon-int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451" y="3184178"/>
            <a:ext cx="406301" cy="406301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4513488" y="3641229"/>
            <a:ext cx="4028376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900832" y="3958679"/>
            <a:ext cx="325368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300"/>
              </a:spcBef>
              <a:buNone/>
            </a:pPr>
            <a:r>
              <a:rPr lang="en-US" sz="1100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report improved confidence after 3 sessions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workspace/assets/dark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2A40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609600" y="527000"/>
            <a:ext cx="244180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PRINCIPLES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691110" y="355550"/>
            <a:ext cx="3873728" cy="390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UX Design Philosophy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609600" y="803225"/>
            <a:ext cx="50795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09600" y="993725"/>
            <a:ext cx="7924800" cy="843558"/>
          </a:xfrm>
          <a:prstGeom prst="roundRect">
            <a:avLst>
              <a:gd name="adj" fmla="val 12044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47725" y="118095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966788" y="1245989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30226" y="1180951"/>
            <a:ext cx="22919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 Sleek Interface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30226" y="1438126"/>
            <a:ext cx="500546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 dark theme that reduces eye strain and feels premium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09600" y="1964234"/>
            <a:ext cx="7924800" cy="843558"/>
          </a:xfrm>
          <a:prstGeom prst="roundRect">
            <a:avLst>
              <a:gd name="adj" fmla="val 12044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847725" y="215145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66788" y="2216497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330226" y="2151459"/>
            <a:ext cx="28167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 + Data-Light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30226" y="2408634"/>
            <a:ext cx="519700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smartphones with optimized low-bandwidth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9600" y="2934742"/>
            <a:ext cx="7924800" cy="843558"/>
          </a:xfrm>
          <a:prstGeom prst="roundRect">
            <a:avLst>
              <a:gd name="adj" fmla="val 12044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847725" y="312196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966788" y="3187005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30226" y="3121968"/>
            <a:ext cx="31881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Conversational AI Guidance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330226" y="3379143"/>
            <a:ext cx="420802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Feels like chatting with a mentor, not filling out forms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09600" y="3905250"/>
            <a:ext cx="7924800" cy="843558"/>
          </a:xfrm>
          <a:prstGeom prst="roundRect">
            <a:avLst>
              <a:gd name="adj" fmla="val 12044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847725" y="4092476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966788" y="4157514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30226" y="4092476"/>
            <a:ext cx="27043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Mentor-Like Experience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330226" y="4349651"/>
            <a:ext cx="513724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guides, encourages, and coaches for an empowering journey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383421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19488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709988" y="255538"/>
            <a:ext cx="1353306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838051"/>
            <a:ext cx="4317950" cy="837902"/>
          </a:xfrm>
          <a:prstGeom prst="roundRect">
            <a:avLst>
              <a:gd name="adj" fmla="val 15157"/>
            </a:avLst>
          </a:prstGeom>
          <a:solidFill>
            <a:srgbClr val="F0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12750" y="1015752"/>
            <a:ext cx="482501" cy="482501"/>
          </a:xfrm>
          <a:prstGeom prst="roundRect">
            <a:avLst>
              <a:gd name="adj" fmla="val 2105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home/z/my-project/workspace/assets/icon-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050" y="1130052"/>
            <a:ext cx="253901" cy="25390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7651" y="1015752"/>
            <a:ext cx="3604424" cy="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Frontend: Next.js / React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47651" y="1254472"/>
            <a:ext cx="3604424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SSR, responsive PWA, offline-first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9600" y="1802904"/>
            <a:ext cx="4317950" cy="837902"/>
          </a:xfrm>
          <a:prstGeom prst="roundRect">
            <a:avLst>
              <a:gd name="adj" fmla="val 15157"/>
            </a:avLst>
          </a:prstGeom>
          <a:solidFill>
            <a:srgbClr val="F0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12750" y="1980605"/>
            <a:ext cx="482501" cy="482501"/>
          </a:xfrm>
          <a:prstGeom prst="roundRect">
            <a:avLst>
              <a:gd name="adj" fmla="val 2105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home/z/my-project/workspace/assets/icon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50" y="2094905"/>
            <a:ext cx="253901" cy="2539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47651" y="1980605"/>
            <a:ext cx="3604424" cy="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Backend: Node.js API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447651" y="2219325"/>
            <a:ext cx="3604424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 endpoints, auth, rate limiting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09600" y="2767757"/>
            <a:ext cx="4317950" cy="837902"/>
          </a:xfrm>
          <a:prstGeom prst="roundRect">
            <a:avLst>
              <a:gd name="adj" fmla="val 15157"/>
            </a:avLst>
          </a:prstGeom>
          <a:solidFill>
            <a:srgbClr val="F0F6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812750" y="2945457"/>
            <a:ext cx="482501" cy="482501"/>
          </a:xfrm>
          <a:prstGeom prst="roundRect">
            <a:avLst>
              <a:gd name="adj" fmla="val 2105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8" name="Image 2" descr="/home/z/my-project/workspace/assets/icon-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050" y="3059757"/>
            <a:ext cx="253901" cy="25390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47651" y="2945457"/>
            <a:ext cx="3604424" cy="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Database: Prisma / SQLite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447651" y="3184178"/>
            <a:ext cx="3604424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Type-safe, lightweight, easy migration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130701" y="838051"/>
            <a:ext cx="3301901" cy="1757214"/>
          </a:xfrm>
          <a:prstGeom prst="roundRect">
            <a:avLst>
              <a:gd name="adj" fmla="val 7227"/>
            </a:avLst>
          </a:prstGeom>
          <a:solidFill>
            <a:srgbClr val="0C2A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6502301" y="1041202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3" descr="/home/z/my-project/workspace/assets/icon-brain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1902" y="1180802"/>
            <a:ext cx="279350" cy="27935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3247" y="1701403"/>
            <a:ext cx="3416808" cy="2304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Layer: LLM Integration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261461" y="1965573"/>
            <a:ext cx="3040380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Context-aware prompts for CV, letters, and coaching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130701" y="2722215"/>
            <a:ext cx="3301901" cy="1594545"/>
          </a:xfrm>
          <a:prstGeom prst="roundRect">
            <a:avLst>
              <a:gd name="adj" fmla="val 7965"/>
            </a:avLst>
          </a:prstGeom>
          <a:solidFill>
            <a:srgbClr val="D8E9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1"/>
          <p:cNvSpPr/>
          <p:nvPr/>
        </p:nvSpPr>
        <p:spPr>
          <a:xfrm>
            <a:off x="5333851" y="2899916"/>
            <a:ext cx="3590544" cy="213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5333851" y="3174057"/>
            <a:ext cx="2895600" cy="10229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PWA for mobile-first experience</a:t>
            </a:r>
            <a:endParaRPr lang="en-US" sz="1200" dirty="0"/>
          </a:p>
          <a:p>
            <a:pPr algn="l" marL="101600" indent="-1016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caching for low latency</a:t>
            </a:r>
            <a:endParaRPr lang="en-US" sz="1200" dirty="0"/>
          </a:p>
          <a:p>
            <a:pPr algn="l" marL="101600" indent="-1016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Modular AI pipeline</a:t>
            </a:r>
            <a:endParaRPr lang="en-US" sz="1200" dirty="0"/>
          </a:p>
          <a:p>
            <a:pPr algn="l" marL="101600" indent="-1016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SQLite for offline data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459696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South Africa Context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80507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771007" y="255538"/>
            <a:ext cx="1829404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Local Reality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6550" y="1421457"/>
            <a:ext cx="2286000" cy="1696343"/>
          </a:xfrm>
          <a:prstGeom prst="roundRect">
            <a:avLst>
              <a:gd name="adj" fmla="val 7487"/>
            </a:avLst>
          </a:prstGeom>
          <a:solidFill>
            <a:srgbClr val="0C2A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home/z/my-project/workspace/assets/icon-mobile-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950" y="167535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3761" y="2234059"/>
            <a:ext cx="2631579" cy="38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70528" y="2665809"/>
            <a:ext cx="2218045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 Internet Users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6550" y="3295501"/>
            <a:ext cx="2286000" cy="1137642"/>
          </a:xfrm>
          <a:prstGeom prst="roundRect">
            <a:avLst>
              <a:gd name="adj" fmla="val 11163"/>
            </a:avLst>
          </a:prstGeom>
          <a:solidFill>
            <a:srgbClr val="0C2A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63761" y="3549402"/>
            <a:ext cx="2631579" cy="38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R5/MB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14137" y="3981152"/>
            <a:ext cx="2330827" cy="213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Data Cost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403402" y="1524446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3568452" y="1499146"/>
            <a:ext cx="546254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Bandwidth Optimization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68452" y="1755577"/>
            <a:ext cx="5462543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Lazy loading, compressed assets — works on 2G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03402" y="2121098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568452" y="2095798"/>
            <a:ext cx="546254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 Design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568452" y="2352229"/>
            <a:ext cx="5462543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Touch-friendly with large tap targets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403402" y="2717750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3568452" y="2692450"/>
            <a:ext cx="546254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Offline-Assisted Mode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568452" y="2948880"/>
            <a:ext cx="5462543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on CV and cover letter offline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03402" y="3314402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3568452" y="3289102"/>
            <a:ext cx="546254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 Integration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568452" y="3545532"/>
            <a:ext cx="5462543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93% of SA internet users daily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03402" y="3911054"/>
            <a:ext cx="38100" cy="35555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3568452" y="3885754"/>
            <a:ext cx="5462543" cy="24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Data-Saving Mode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3568452" y="4142184"/>
            <a:ext cx="5462543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 to 70% data usage reduction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3007258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Roadmap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18557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09057" y="255538"/>
            <a:ext cx="123628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MVP to Scale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1568797"/>
            <a:ext cx="2438400" cy="2399407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592610"/>
            <a:ext cx="2438400" cy="0"/>
          </a:xfrm>
          <a:prstGeom prst="line">
            <a:avLst/>
          </a:prstGeom>
          <a:noFill/>
          <a:ln w="47625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750" y="187032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44612" y="1948011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9802" y="1971824"/>
            <a:ext cx="11155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Q3-Q4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12750" y="2352824"/>
            <a:ext cx="2641729" cy="263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MVP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750" y="2698105"/>
            <a:ext cx="2032099" cy="107717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Resume Builder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 Letter Generator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 Coach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profiles + PDF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51150" y="1568797"/>
            <a:ext cx="2438400" cy="2399407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51150" y="1592610"/>
            <a:ext cx="2438400" cy="0"/>
          </a:xfrm>
          <a:prstGeom prst="line">
            <a:avLst/>
          </a:prstGeom>
          <a:noFill/>
          <a:ln w="47625">
            <a:solidFill>
              <a:srgbClr val="4085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4301" y="187032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4085B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86163" y="1948011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11352" y="1971824"/>
            <a:ext cx="11155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Q1-Q2 2027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54301" y="2352824"/>
            <a:ext cx="2641729" cy="263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54301" y="2698105"/>
            <a:ext cx="2032099" cy="107717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Job Matching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 Gap Analysis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 Dashboard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Tracker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92701" y="1568797"/>
            <a:ext cx="2438400" cy="2399407"/>
          </a:xfrm>
          <a:prstGeom prst="roundRect">
            <a:avLst>
              <a:gd name="adj" fmla="val 52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892701" y="1592610"/>
            <a:ext cx="2438400" cy="0"/>
          </a:xfrm>
          <a:prstGeom prst="line">
            <a:avLst/>
          </a:prstGeom>
          <a:noFill/>
          <a:ln w="47625">
            <a:solidFill>
              <a:srgbClr val="70AA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5851" y="187032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70AA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27713" y="1948011"/>
            <a:ext cx="12672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52902" y="1971824"/>
            <a:ext cx="11155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70AA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Q3-Q4 2027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5851" y="2352824"/>
            <a:ext cx="2641729" cy="263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95851" y="2698105"/>
            <a:ext cx="2032099" cy="107717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 Bot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Paths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+ Mentorship</a:t>
            </a:r>
            <a:endParaRPr lang="en-US" sz="1200" dirty="0"/>
          </a:p>
          <a:p>
            <a:pPr algn="l" marL="88900" indent="-88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Partnerships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0350" y="4196655"/>
            <a:ext cx="634901" cy="38100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396752" y="4196655"/>
            <a:ext cx="634901" cy="38100"/>
          </a:xfrm>
          <a:prstGeom prst="roundRect">
            <a:avLst>
              <a:gd name="adj" fmla="val 66667"/>
            </a:avLst>
          </a:prstGeom>
          <a:solidFill>
            <a:srgbClr val="4085B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133154" y="4196655"/>
            <a:ext cx="634901" cy="38100"/>
          </a:xfrm>
          <a:prstGeom prst="roundRect">
            <a:avLst>
              <a:gd name="adj" fmla="val 66667"/>
            </a:avLst>
          </a:prstGeom>
          <a:solidFill>
            <a:srgbClr val="70AA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21955" y="4145905"/>
            <a:ext cx="3798585" cy="15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dirty="0">
                <a:solidFill>
                  <a:srgbClr val="70AA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Iterative development with user feedback at every stage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11101"/>
          </a:xfrm>
          <a:prstGeom prst="rect">
            <a:avLst/>
          </a:prstGeom>
          <a:solidFill>
            <a:srgbClr val="1444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80975"/>
            <a:ext cx="2813968" cy="37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Projected Impact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063925" y="228600"/>
            <a:ext cx="38100" cy="253901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54425" y="255538"/>
            <a:ext cx="1308622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1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9600" y="1168301"/>
            <a:ext cx="2438400" cy="1720304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70701" y="1422202"/>
            <a:ext cx="2916198" cy="52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100K+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37341" y="2006352"/>
            <a:ext cx="2582918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Users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5226" y="2271564"/>
            <a:ext cx="2187148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70AA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Across major metros and townships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25701" y="1168301"/>
            <a:ext cx="2438400" cy="1720304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986802" y="1422202"/>
            <a:ext cx="2916198" cy="52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15932" y="2006352"/>
            <a:ext cx="2457938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 Confidence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15932" y="2271564"/>
            <a:ext cx="2457938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70AA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 readiness boost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41802" y="1168301"/>
            <a:ext cx="2438400" cy="1720304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02903" y="1422202"/>
            <a:ext cx="2916198" cy="521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5832032" y="2006352"/>
            <a:ext cx="2457938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Success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832032" y="2271564"/>
            <a:ext cx="2457938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70AA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Increase in callback rates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9600" y="3091755"/>
            <a:ext cx="3759101" cy="1594545"/>
          </a:xfrm>
          <a:prstGeom prst="roundRect">
            <a:avLst>
              <a:gd name="adj" fmla="val 7965"/>
            </a:avLst>
          </a:prstGeom>
          <a:solidFill>
            <a:srgbClr val="D8E9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8200" y="3269456"/>
            <a:ext cx="3632091" cy="213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5F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Metrics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8200" y="3543598"/>
            <a:ext cx="3301901" cy="10229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Active Users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CVs Generated per Month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 Sessions Completed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408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30-Day User Retention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46402" y="3091755"/>
            <a:ext cx="3759101" cy="1594545"/>
          </a:xfrm>
          <a:prstGeom prst="roundRect">
            <a:avLst>
              <a:gd name="adj" fmla="val 7965"/>
            </a:avLst>
          </a:prstGeom>
          <a:solidFill>
            <a:srgbClr val="0C2A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75002" y="3269456"/>
            <a:ext cx="3632091" cy="213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 Impact Goals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75002" y="3543598"/>
            <a:ext cx="3301901" cy="10229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 youth unemployment barriers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Bridge digital skills gap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Democratize career coaching</a:t>
            </a:r>
            <a:endParaRPr lang="en-US" sz="1200" dirty="0"/>
          </a:p>
          <a:p>
            <a:pPr algn="l" marL="88900" indent="-88900">
              <a:lnSpc>
                <a:spcPts val="19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employable confidence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workspace/assets/closing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2A40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495800" y="562868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126876" y="1020068"/>
            <a:ext cx="8636000" cy="1119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spcAft>
                <a:spcPts val="8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 South Africa's Next Generation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267200" y="2360861"/>
            <a:ext cx="6096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04902" y="2602111"/>
            <a:ext cx="6134048" cy="614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Aft>
                <a:spcPts val="2800"/>
              </a:spcAft>
              <a:buNone/>
            </a:pPr>
            <a:r>
              <a:rPr lang="en-US" sz="1600" dirty="0">
                <a:solidFill>
                  <a:srgbClr val="FFFFFF">
                    <a:alpha val="7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young person deserves the tools to build their future. NexTech makes that possible.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293293" y="3526482"/>
            <a:ext cx="4557415" cy="571500"/>
          </a:xfrm>
          <a:prstGeom prst="roundRect">
            <a:avLst>
              <a:gd name="adj" fmla="val 17778"/>
            </a:avLst>
          </a:prstGeom>
          <a:solidFill>
            <a:srgbClr val="2A9D8F">
              <a:alpha val="15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2522830" y="3688407"/>
            <a:ext cx="409834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Us in Bridging Skills to Employment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462288" y="4402782"/>
            <a:ext cx="22192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Bef>
                <a:spcPts val="2400"/>
              </a:spcBef>
              <a:buNone/>
            </a:pPr>
            <a:r>
              <a:rPr lang="en-US" sz="1200" dirty="0">
                <a:solidFill>
                  <a:srgbClr val="FFFFFF">
                    <a:alpha val="45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NexTech Career App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Addressing Youth Unemployment in South Africa</dc:subject>
  <dc:creator>NexTech</dc:creator>
  <cp:lastModifiedBy>NexTech</cp:lastModifiedBy>
  <cp:revision>1</cp:revision>
  <dcterms:created xsi:type="dcterms:W3CDTF">2026-05-04T02:35:47Z</dcterms:created>
  <dcterms:modified xsi:type="dcterms:W3CDTF">2026-05-04T02:35:47Z</dcterms:modified>
</cp:coreProperties>
</file>