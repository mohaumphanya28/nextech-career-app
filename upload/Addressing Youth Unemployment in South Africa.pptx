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joburgetc.com/4bdb92ab5ee464336d5bb2cd6b82385f6dfa7bbf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6236" b="623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072515"/>
            <a:ext cx="1750695" cy="388620"/>
          </a:xfrm>
          <a:custGeom>
            <a:avLst/>
            <a:gdLst/>
            <a:ahLst/>
            <a:cxnLst/>
            <a:rect l="l" t="t" r="r" b="b"/>
            <a:pathLst>
              <a:path w="1750695" h="388620">
                <a:moveTo>
                  <a:pt x="194310" y="0"/>
                </a:moveTo>
                <a:lnTo>
                  <a:pt x="1556385" y="0"/>
                </a:lnTo>
                <a:cubicBezTo>
                  <a:pt x="1663699" y="0"/>
                  <a:pt x="1750695" y="86996"/>
                  <a:pt x="1750695" y="194310"/>
                </a:cubicBezTo>
                <a:lnTo>
                  <a:pt x="1750695" y="194310"/>
                </a:lnTo>
                <a:cubicBezTo>
                  <a:pt x="1750695" y="301624"/>
                  <a:pt x="1663699" y="388620"/>
                  <a:pt x="155638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175385"/>
            <a:ext cx="15020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Assignment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22145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Addressing Youth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Unemployment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South Africa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4802505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70">
                <a:moveTo>
                  <a:pt x="184785" y="0"/>
                </a:moveTo>
                <a:lnTo>
                  <a:pt x="184785" y="0"/>
                </a:lnTo>
                <a:cubicBezTo>
                  <a:pt x="286839" y="0"/>
                  <a:pt x="369570" y="82731"/>
                  <a:pt x="369570" y="184785"/>
                </a:cubicBezTo>
                <a:lnTo>
                  <a:pt x="369570" y="184785"/>
                </a:lnTo>
                <a:cubicBezTo>
                  <a:pt x="369570" y="286839"/>
                  <a:pt x="286839" y="369570"/>
                  <a:pt x="184785" y="369570"/>
                </a:cubicBezTo>
                <a:lnTo>
                  <a:pt x="184785" y="369570"/>
                </a:lnTo>
                <a:cubicBezTo>
                  <a:pt x="82731" y="369570"/>
                  <a:pt x="0" y="286839"/>
                  <a:pt x="0" y="184785"/>
                </a:cubicBezTo>
                <a:lnTo>
                  <a:pt x="0" y="184785"/>
                </a:lnTo>
                <a:cubicBezTo>
                  <a:pt x="0" y="82731"/>
                  <a:pt x="82731" y="0"/>
                  <a:pt x="18478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725" y="490347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876300" y="485584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NexTech Group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63629" y="4836795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1" name="Shape 8"/>
          <p:cNvSpPr/>
          <p:nvPr/>
        </p:nvSpPr>
        <p:spPr>
          <a:xfrm>
            <a:off x="2712482" y="490347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2968466" y="4855845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Mohau Mphanya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0452" y="490347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4826437" y="485584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Sive Mtengwana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20445" y="490347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6676430" y="4855845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Lesedi Ledwaba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4810" y="5871210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598170" h="598170">
                <a:moveTo>
                  <a:pt x="152402" y="0"/>
                </a:moveTo>
                <a:lnTo>
                  <a:pt x="445768" y="0"/>
                </a:lnTo>
                <a:cubicBezTo>
                  <a:pt x="529881" y="0"/>
                  <a:pt x="598170" y="68289"/>
                  <a:pt x="598170" y="152402"/>
                </a:cubicBezTo>
                <a:lnTo>
                  <a:pt x="598170" y="445768"/>
                </a:lnTo>
                <a:cubicBezTo>
                  <a:pt x="598170" y="529881"/>
                  <a:pt x="529881" y="598170"/>
                  <a:pt x="445768" y="598170"/>
                </a:cubicBezTo>
                <a:lnTo>
                  <a:pt x="152402" y="598170"/>
                </a:lnTo>
                <a:cubicBezTo>
                  <a:pt x="68289" y="598170"/>
                  <a:pt x="0" y="529881"/>
                  <a:pt x="0" y="44576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5306" y="6029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59436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613410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NexTech Solutions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189494" y="62865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Crisis at a Glance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89710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52403" y="0"/>
                </a:moveTo>
                <a:lnTo>
                  <a:pt x="5436867" y="0"/>
                </a:lnTo>
                <a:cubicBezTo>
                  <a:pt x="5521037" y="0"/>
                  <a:pt x="5589270" y="68233"/>
                  <a:pt x="5589270" y="152403"/>
                </a:cubicBezTo>
                <a:lnTo>
                  <a:pt x="5589270" y="2217417"/>
                </a:lnTo>
                <a:cubicBezTo>
                  <a:pt x="5589270" y="2301587"/>
                  <a:pt x="5521037" y="2369820"/>
                  <a:pt x="5436867" y="2369820"/>
                </a:cubicBezTo>
                <a:lnTo>
                  <a:pt x="152403" y="2369820"/>
                </a:lnTo>
                <a:cubicBezTo>
                  <a:pt x="68233" y="2369820"/>
                  <a:pt x="0" y="2301587"/>
                  <a:pt x="0" y="22174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420" y="197286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5820" y="212526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972866"/>
            <a:ext cx="436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Levels Reached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53747"/>
            <a:ext cx="43338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Youth unemployment in South Africa has reached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levels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creating a national emergency that demands immediate attention and innovative solutions.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4099560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52403" y="0"/>
                </a:moveTo>
                <a:lnTo>
                  <a:pt x="5436867" y="0"/>
                </a:lnTo>
                <a:cubicBezTo>
                  <a:pt x="5521037" y="0"/>
                  <a:pt x="5589270" y="68233"/>
                  <a:pt x="5589270" y="152403"/>
                </a:cubicBezTo>
                <a:lnTo>
                  <a:pt x="5589270" y="2217417"/>
                </a:lnTo>
                <a:cubicBezTo>
                  <a:pt x="5589270" y="2301587"/>
                  <a:pt x="5521037" y="2369820"/>
                  <a:pt x="5436867" y="2369820"/>
                </a:cubicBezTo>
                <a:lnTo>
                  <a:pt x="152403" y="2369820"/>
                </a:lnTo>
                <a:cubicBezTo>
                  <a:pt x="68233" y="2369820"/>
                  <a:pt x="0" y="2301587"/>
                  <a:pt x="0" y="22174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3420" y="467796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" y="483036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4677966"/>
            <a:ext cx="436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 &amp; Social Impact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5058847"/>
            <a:ext cx="43338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issue negatively affects both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 growth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stability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creating a cycle of poverty and inequality that threatens the nation's future prosperity.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4110" y="1489710"/>
            <a:ext cx="5589270" cy="4979670"/>
          </a:xfrm>
          <a:custGeom>
            <a:avLst/>
            <a:gdLst/>
            <a:ahLst/>
            <a:cxnLst/>
            <a:rect l="l" t="t" r="r" b="b"/>
            <a:pathLst>
              <a:path w="5589270" h="4979670">
                <a:moveTo>
                  <a:pt x="152378" y="0"/>
                </a:moveTo>
                <a:lnTo>
                  <a:pt x="5436892" y="0"/>
                </a:lnTo>
                <a:cubicBezTo>
                  <a:pt x="5521048" y="0"/>
                  <a:pt x="5589270" y="68222"/>
                  <a:pt x="5589270" y="152378"/>
                </a:cubicBezTo>
                <a:lnTo>
                  <a:pt x="5589270" y="4827292"/>
                </a:lnTo>
                <a:cubicBezTo>
                  <a:pt x="5589270" y="4911448"/>
                  <a:pt x="5521048" y="4979670"/>
                  <a:pt x="5436892" y="4979670"/>
                </a:cubicBezTo>
                <a:lnTo>
                  <a:pt x="152378" y="4979670"/>
                </a:lnTo>
                <a:cubicBezTo>
                  <a:pt x="68222" y="4979670"/>
                  <a:pt x="0" y="4911448"/>
                  <a:pt x="0" y="4827292"/>
                </a:cubicBezTo>
                <a:lnTo>
                  <a:pt x="0" y="152378"/>
                </a:lnTo>
                <a:cubicBezTo>
                  <a:pt x="0" y="68222"/>
                  <a:pt x="68222" y="0"/>
                  <a:pt x="15237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2720" y="1798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60832" y="195072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42863"/>
                </a:moveTo>
                <a:cubicBezTo>
                  <a:pt x="88002" y="42863"/>
                  <a:pt x="51256" y="58936"/>
                  <a:pt x="24244" y="85100"/>
                </a:cubicBezTo>
                <a:cubicBezTo>
                  <a:pt x="18574" y="90592"/>
                  <a:pt x="9510" y="90458"/>
                  <a:pt x="4063" y="84787"/>
                </a:cubicBezTo>
                <a:cubicBezTo>
                  <a:pt x="-1384" y="79117"/>
                  <a:pt x="-1295" y="70053"/>
                  <a:pt x="4376" y="64606"/>
                </a:cubicBezTo>
                <a:cubicBezTo>
                  <a:pt x="36478" y="33442"/>
                  <a:pt x="80323" y="14288"/>
                  <a:pt x="128588" y="14288"/>
                </a:cubicBezTo>
                <a:cubicBezTo>
                  <a:pt x="176852" y="14288"/>
                  <a:pt x="220697" y="33442"/>
                  <a:pt x="252844" y="64606"/>
                </a:cubicBezTo>
                <a:cubicBezTo>
                  <a:pt x="258514" y="70098"/>
                  <a:pt x="258648" y="79162"/>
                  <a:pt x="253157" y="84787"/>
                </a:cubicBezTo>
                <a:cubicBezTo>
                  <a:pt x="247665" y="90413"/>
                  <a:pt x="238601" y="90592"/>
                  <a:pt x="232976" y="85100"/>
                </a:cubicBezTo>
                <a:cubicBezTo>
                  <a:pt x="205919" y="58936"/>
                  <a:pt x="169173" y="42863"/>
                  <a:pt x="128588" y="42863"/>
                </a:cubicBezTo>
                <a:close/>
                <a:moveTo>
                  <a:pt x="107156" y="192881"/>
                </a:moveTo>
                <a:cubicBezTo>
                  <a:pt x="107156" y="181053"/>
                  <a:pt x="116759" y="171450"/>
                  <a:pt x="128588" y="171450"/>
                </a:cubicBezTo>
                <a:cubicBezTo>
                  <a:pt x="140416" y="171450"/>
                  <a:pt x="150019" y="181053"/>
                  <a:pt x="150019" y="192881"/>
                </a:cubicBezTo>
                <a:cubicBezTo>
                  <a:pt x="150019" y="204709"/>
                  <a:pt x="140416" y="214313"/>
                  <a:pt x="128588" y="214313"/>
                </a:cubicBezTo>
                <a:cubicBezTo>
                  <a:pt x="116759" y="214313"/>
                  <a:pt x="107156" y="204709"/>
                  <a:pt x="107156" y="192881"/>
                </a:cubicBezTo>
                <a:close/>
                <a:moveTo>
                  <a:pt x="75009" y="145643"/>
                </a:moveTo>
                <a:cubicBezTo>
                  <a:pt x="69786" y="151581"/>
                  <a:pt x="60767" y="152117"/>
                  <a:pt x="54828" y="146893"/>
                </a:cubicBezTo>
                <a:cubicBezTo>
                  <a:pt x="48890" y="141669"/>
                  <a:pt x="48354" y="132651"/>
                  <a:pt x="53578" y="126712"/>
                </a:cubicBezTo>
                <a:cubicBezTo>
                  <a:pt x="71884" y="105995"/>
                  <a:pt x="98718" y="92869"/>
                  <a:pt x="128588" y="92869"/>
                </a:cubicBezTo>
                <a:cubicBezTo>
                  <a:pt x="158457" y="92869"/>
                  <a:pt x="185291" y="105995"/>
                  <a:pt x="203597" y="126712"/>
                </a:cubicBezTo>
                <a:cubicBezTo>
                  <a:pt x="208821" y="132651"/>
                  <a:pt x="208240" y="141669"/>
                  <a:pt x="202347" y="146893"/>
                </a:cubicBezTo>
                <a:cubicBezTo>
                  <a:pt x="196453" y="152117"/>
                  <a:pt x="187389" y="151537"/>
                  <a:pt x="182166" y="145643"/>
                </a:cubicBezTo>
                <a:cubicBezTo>
                  <a:pt x="169039" y="130775"/>
                  <a:pt x="149929" y="121444"/>
                  <a:pt x="128588" y="121444"/>
                </a:cubicBezTo>
                <a:cubicBezTo>
                  <a:pt x="107246" y="121444"/>
                  <a:pt x="88136" y="130775"/>
                  <a:pt x="75009" y="14564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7208520" y="1912620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Digital Divide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2720" y="2560320"/>
            <a:ext cx="50577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digital access continues to worsen the situation, creating a barrier between young job seekers and employment opportunities in an increasingly digital economy.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26530" y="3704749"/>
            <a:ext cx="4970145" cy="2455545"/>
          </a:xfrm>
          <a:custGeom>
            <a:avLst/>
            <a:gdLst/>
            <a:ahLst/>
            <a:cxnLst/>
            <a:rect l="l" t="t" r="r" b="b"/>
            <a:pathLst>
              <a:path w="4970145" h="2455545">
                <a:moveTo>
                  <a:pt x="114306" y="0"/>
                </a:moveTo>
                <a:lnTo>
                  <a:pt x="4855839" y="0"/>
                </a:lnTo>
                <a:cubicBezTo>
                  <a:pt x="4918969" y="0"/>
                  <a:pt x="4970145" y="51176"/>
                  <a:pt x="4970145" y="114306"/>
                </a:cubicBezTo>
                <a:lnTo>
                  <a:pt x="4970145" y="2341239"/>
                </a:lnTo>
                <a:cubicBezTo>
                  <a:pt x="4970145" y="2404369"/>
                  <a:pt x="4918969" y="2455545"/>
                  <a:pt x="4855839" y="2455545"/>
                </a:cubicBezTo>
                <a:lnTo>
                  <a:pt x="114306" y="2455545"/>
                </a:lnTo>
                <a:cubicBezTo>
                  <a:pt x="51176" y="2455545"/>
                  <a:pt x="0" y="2404369"/>
                  <a:pt x="0" y="234123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8940" y="4185047"/>
            <a:ext cx="458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Mission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58940" y="4566047"/>
            <a:ext cx="46196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aim to tackle this issue through innovative technology solutions that bridge the gap between skills and employment.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Statistics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numbers tell a compelling story of urgency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908810"/>
            <a:ext cx="5589270" cy="2150745"/>
          </a:xfrm>
          <a:custGeom>
            <a:avLst/>
            <a:gdLst/>
            <a:ahLst/>
            <a:cxnLst/>
            <a:rect l="l" t="t" r="r" b="b"/>
            <a:pathLst>
              <a:path w="5589270" h="2150745">
                <a:moveTo>
                  <a:pt x="152402" y="0"/>
                </a:moveTo>
                <a:lnTo>
                  <a:pt x="5436868" y="0"/>
                </a:lnTo>
                <a:cubicBezTo>
                  <a:pt x="5521037" y="0"/>
                  <a:pt x="5589270" y="68233"/>
                  <a:pt x="5589270" y="152402"/>
                </a:cubicBezTo>
                <a:lnTo>
                  <a:pt x="5589270" y="1998343"/>
                </a:lnTo>
                <a:cubicBezTo>
                  <a:pt x="5589270" y="2082512"/>
                  <a:pt x="5521037" y="2150745"/>
                  <a:pt x="5436868" y="2150745"/>
                </a:cubicBezTo>
                <a:lnTo>
                  <a:pt x="152402" y="2150745"/>
                </a:lnTo>
                <a:cubicBezTo>
                  <a:pt x="68233" y="2150745"/>
                  <a:pt x="0" y="2082512"/>
                  <a:pt x="0" y="199834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3420" y="22936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008" y="245554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455420" y="221742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Youth Unemployment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55420" y="2407920"/>
            <a:ext cx="198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46.1%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420" y="3131820"/>
            <a:ext cx="50673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youth aged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15-34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unemployed, representing nearly half of the young adult population struggling to find work.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4110" y="1908810"/>
            <a:ext cx="5589270" cy="2150745"/>
          </a:xfrm>
          <a:custGeom>
            <a:avLst/>
            <a:gdLst/>
            <a:ahLst/>
            <a:cxnLst/>
            <a:rect l="l" t="t" r="r" b="b"/>
            <a:pathLst>
              <a:path w="5589270" h="2150745">
                <a:moveTo>
                  <a:pt x="152402" y="0"/>
                </a:moveTo>
                <a:lnTo>
                  <a:pt x="5436868" y="0"/>
                </a:lnTo>
                <a:cubicBezTo>
                  <a:pt x="5521037" y="0"/>
                  <a:pt x="5589270" y="68233"/>
                  <a:pt x="5589270" y="152402"/>
                </a:cubicBezTo>
                <a:lnTo>
                  <a:pt x="5589270" y="1998343"/>
                </a:lnTo>
                <a:cubicBezTo>
                  <a:pt x="5589270" y="2082512"/>
                  <a:pt x="5521037" y="2150745"/>
                  <a:pt x="5436868" y="2150745"/>
                </a:cubicBezTo>
                <a:lnTo>
                  <a:pt x="152402" y="2150745"/>
                </a:lnTo>
                <a:cubicBezTo>
                  <a:pt x="68233" y="2150745"/>
                  <a:pt x="0" y="2082512"/>
                  <a:pt x="0" y="199834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22720" y="22936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69167" y="245554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7284720" y="221742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Young Adults (15-24)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4720" y="2407920"/>
            <a:ext cx="1895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2720" y="3131820"/>
            <a:ext cx="50673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young people aged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15-24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have no jobs, highlighting the severe challenges faced by those entering the workforce.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4295775"/>
            <a:ext cx="5589270" cy="2465070"/>
          </a:xfrm>
          <a:custGeom>
            <a:avLst/>
            <a:gdLst/>
            <a:ahLst/>
            <a:cxnLst/>
            <a:rect l="l" t="t" r="r" b="b"/>
            <a:pathLst>
              <a:path w="5589270" h="2465070">
                <a:moveTo>
                  <a:pt x="152391" y="0"/>
                </a:moveTo>
                <a:lnTo>
                  <a:pt x="5436879" y="0"/>
                </a:lnTo>
                <a:cubicBezTo>
                  <a:pt x="5521042" y="0"/>
                  <a:pt x="5589270" y="68228"/>
                  <a:pt x="5589270" y="152391"/>
                </a:cubicBezTo>
                <a:lnTo>
                  <a:pt x="5589270" y="2312679"/>
                </a:lnTo>
                <a:cubicBezTo>
                  <a:pt x="5589270" y="2396842"/>
                  <a:pt x="5521042" y="2465070"/>
                  <a:pt x="5436879" y="2465070"/>
                </a:cubicBezTo>
                <a:lnTo>
                  <a:pt x="152391" y="2465070"/>
                </a:lnTo>
                <a:cubicBezTo>
                  <a:pt x="68228" y="2465070"/>
                  <a:pt x="0" y="2396842"/>
                  <a:pt x="0" y="231267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420" y="468058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39867" y="4842511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3499" y="-4465"/>
                </a:moveTo>
                <a:cubicBezTo>
                  <a:pt x="130094" y="-7925"/>
                  <a:pt x="125127" y="-9320"/>
                  <a:pt x="120439" y="-8037"/>
                </a:cubicBezTo>
                <a:cubicBezTo>
                  <a:pt x="115751" y="-6753"/>
                  <a:pt x="112123" y="-3125"/>
                  <a:pt x="110951" y="1563"/>
                </a:cubicBezTo>
                <a:lnTo>
                  <a:pt x="102412" y="35161"/>
                </a:lnTo>
                <a:cubicBezTo>
                  <a:pt x="101798" y="37616"/>
                  <a:pt x="99287" y="39067"/>
                  <a:pt x="96887" y="38342"/>
                </a:cubicBezTo>
                <a:lnTo>
                  <a:pt x="63512" y="28966"/>
                </a:lnTo>
                <a:cubicBezTo>
                  <a:pt x="58824" y="27626"/>
                  <a:pt x="53801" y="28966"/>
                  <a:pt x="50397" y="32370"/>
                </a:cubicBezTo>
                <a:cubicBezTo>
                  <a:pt x="46992" y="35775"/>
                  <a:pt x="45653" y="40798"/>
                  <a:pt x="46992" y="45486"/>
                </a:cubicBezTo>
                <a:lnTo>
                  <a:pt x="56424" y="78860"/>
                </a:lnTo>
                <a:cubicBezTo>
                  <a:pt x="57094" y="81260"/>
                  <a:pt x="55643" y="83772"/>
                  <a:pt x="53243" y="84386"/>
                </a:cubicBezTo>
                <a:lnTo>
                  <a:pt x="19590" y="92925"/>
                </a:lnTo>
                <a:cubicBezTo>
                  <a:pt x="14901" y="94097"/>
                  <a:pt x="11218" y="97780"/>
                  <a:pt x="9934" y="102468"/>
                </a:cubicBezTo>
                <a:cubicBezTo>
                  <a:pt x="8651" y="107156"/>
                  <a:pt x="10046" y="112123"/>
                  <a:pt x="13506" y="115528"/>
                </a:cubicBezTo>
                <a:lnTo>
                  <a:pt x="38342" y="139694"/>
                </a:lnTo>
                <a:cubicBezTo>
                  <a:pt x="40128" y="141424"/>
                  <a:pt x="40128" y="144326"/>
                  <a:pt x="38342" y="146112"/>
                </a:cubicBezTo>
                <a:lnTo>
                  <a:pt x="13562" y="170278"/>
                </a:lnTo>
                <a:cubicBezTo>
                  <a:pt x="10102" y="173682"/>
                  <a:pt x="8706" y="178650"/>
                  <a:pt x="9990" y="183338"/>
                </a:cubicBezTo>
                <a:cubicBezTo>
                  <a:pt x="11274" y="188026"/>
                  <a:pt x="14957" y="191653"/>
                  <a:pt x="19645" y="192881"/>
                </a:cubicBezTo>
                <a:lnTo>
                  <a:pt x="53243" y="201420"/>
                </a:lnTo>
                <a:cubicBezTo>
                  <a:pt x="55699" y="202034"/>
                  <a:pt x="57150" y="204546"/>
                  <a:pt x="56424" y="206946"/>
                </a:cubicBezTo>
                <a:lnTo>
                  <a:pt x="46992" y="240264"/>
                </a:lnTo>
                <a:cubicBezTo>
                  <a:pt x="45653" y="244952"/>
                  <a:pt x="46992" y="249975"/>
                  <a:pt x="50397" y="253380"/>
                </a:cubicBezTo>
                <a:cubicBezTo>
                  <a:pt x="53801" y="256784"/>
                  <a:pt x="58824" y="258124"/>
                  <a:pt x="63512" y="256784"/>
                </a:cubicBezTo>
                <a:lnTo>
                  <a:pt x="96887" y="247352"/>
                </a:lnTo>
                <a:cubicBezTo>
                  <a:pt x="99287" y="246683"/>
                  <a:pt x="101798" y="248134"/>
                  <a:pt x="102412" y="250534"/>
                </a:cubicBezTo>
                <a:lnTo>
                  <a:pt x="110951" y="284131"/>
                </a:lnTo>
                <a:cubicBezTo>
                  <a:pt x="112123" y="288820"/>
                  <a:pt x="115807" y="292503"/>
                  <a:pt x="120495" y="293787"/>
                </a:cubicBezTo>
                <a:cubicBezTo>
                  <a:pt x="125183" y="295070"/>
                  <a:pt x="130150" y="293675"/>
                  <a:pt x="133555" y="290215"/>
                </a:cubicBezTo>
                <a:lnTo>
                  <a:pt x="157721" y="265379"/>
                </a:lnTo>
                <a:cubicBezTo>
                  <a:pt x="159451" y="263593"/>
                  <a:pt x="162353" y="263593"/>
                  <a:pt x="164139" y="265379"/>
                </a:cubicBezTo>
                <a:lnTo>
                  <a:pt x="188249" y="290215"/>
                </a:lnTo>
                <a:cubicBezTo>
                  <a:pt x="191653" y="293675"/>
                  <a:pt x="196621" y="295070"/>
                  <a:pt x="201309" y="293787"/>
                </a:cubicBezTo>
                <a:cubicBezTo>
                  <a:pt x="205997" y="292503"/>
                  <a:pt x="209624" y="288820"/>
                  <a:pt x="210852" y="284131"/>
                </a:cubicBezTo>
                <a:lnTo>
                  <a:pt x="219391" y="250589"/>
                </a:lnTo>
                <a:cubicBezTo>
                  <a:pt x="220005" y="248134"/>
                  <a:pt x="222517" y="246683"/>
                  <a:pt x="224917" y="247408"/>
                </a:cubicBezTo>
                <a:lnTo>
                  <a:pt x="258291" y="256840"/>
                </a:lnTo>
                <a:cubicBezTo>
                  <a:pt x="262979" y="258180"/>
                  <a:pt x="268002" y="256840"/>
                  <a:pt x="271407" y="253436"/>
                </a:cubicBezTo>
                <a:cubicBezTo>
                  <a:pt x="274811" y="250031"/>
                  <a:pt x="276151" y="245008"/>
                  <a:pt x="274811" y="240320"/>
                </a:cubicBezTo>
                <a:lnTo>
                  <a:pt x="265379" y="206946"/>
                </a:lnTo>
                <a:cubicBezTo>
                  <a:pt x="264709" y="204546"/>
                  <a:pt x="266160" y="202034"/>
                  <a:pt x="268560" y="201420"/>
                </a:cubicBezTo>
                <a:lnTo>
                  <a:pt x="302158" y="192881"/>
                </a:lnTo>
                <a:cubicBezTo>
                  <a:pt x="306846" y="191709"/>
                  <a:pt x="310530" y="188026"/>
                  <a:pt x="311814" y="183338"/>
                </a:cubicBezTo>
                <a:cubicBezTo>
                  <a:pt x="313097" y="178650"/>
                  <a:pt x="311702" y="173627"/>
                  <a:pt x="308242" y="170278"/>
                </a:cubicBezTo>
                <a:lnTo>
                  <a:pt x="283406" y="146112"/>
                </a:lnTo>
                <a:cubicBezTo>
                  <a:pt x="281620" y="144382"/>
                  <a:pt x="281620" y="141480"/>
                  <a:pt x="283406" y="139694"/>
                </a:cubicBezTo>
                <a:lnTo>
                  <a:pt x="308242" y="115528"/>
                </a:lnTo>
                <a:cubicBezTo>
                  <a:pt x="311702" y="112123"/>
                  <a:pt x="313097" y="107156"/>
                  <a:pt x="311814" y="102468"/>
                </a:cubicBezTo>
                <a:cubicBezTo>
                  <a:pt x="310530" y="97780"/>
                  <a:pt x="306846" y="94152"/>
                  <a:pt x="302158" y="92925"/>
                </a:cubicBezTo>
                <a:lnTo>
                  <a:pt x="268560" y="84386"/>
                </a:lnTo>
                <a:cubicBezTo>
                  <a:pt x="266105" y="83772"/>
                  <a:pt x="264654" y="81260"/>
                  <a:pt x="265379" y="78860"/>
                </a:cubicBezTo>
                <a:lnTo>
                  <a:pt x="274811" y="45486"/>
                </a:lnTo>
                <a:cubicBezTo>
                  <a:pt x="276151" y="40798"/>
                  <a:pt x="274811" y="35775"/>
                  <a:pt x="271407" y="32370"/>
                </a:cubicBezTo>
                <a:cubicBezTo>
                  <a:pt x="268002" y="28966"/>
                  <a:pt x="262979" y="27626"/>
                  <a:pt x="258291" y="28966"/>
                </a:cubicBezTo>
                <a:lnTo>
                  <a:pt x="224917" y="38398"/>
                </a:lnTo>
                <a:cubicBezTo>
                  <a:pt x="222517" y="39067"/>
                  <a:pt x="220005" y="37616"/>
                  <a:pt x="219391" y="35216"/>
                </a:cubicBezTo>
                <a:lnTo>
                  <a:pt x="210852" y="1563"/>
                </a:lnTo>
                <a:cubicBezTo>
                  <a:pt x="209680" y="-3125"/>
                  <a:pt x="205997" y="-6809"/>
                  <a:pt x="201309" y="-8093"/>
                </a:cubicBezTo>
                <a:cubicBezTo>
                  <a:pt x="196621" y="-9376"/>
                  <a:pt x="191653" y="-7981"/>
                  <a:pt x="188249" y="-4521"/>
                </a:cubicBezTo>
                <a:lnTo>
                  <a:pt x="164083" y="20371"/>
                </a:lnTo>
                <a:cubicBezTo>
                  <a:pt x="162353" y="22157"/>
                  <a:pt x="159451" y="22157"/>
                  <a:pt x="157665" y="20371"/>
                </a:cubicBezTo>
                <a:lnTo>
                  <a:pt x="133499" y="-44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455420" y="460438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Matric Graduates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55420" y="4794886"/>
            <a:ext cx="1695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4.8%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420" y="5518786"/>
            <a:ext cx="50673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matric graduates successfully find employment, revealing a massive gap between education completion and job market entry.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4110" y="4295775"/>
            <a:ext cx="5589270" cy="2465070"/>
          </a:xfrm>
          <a:custGeom>
            <a:avLst/>
            <a:gdLst/>
            <a:ahLst/>
            <a:cxnLst/>
            <a:rect l="l" t="t" r="r" b="b"/>
            <a:pathLst>
              <a:path w="5589270" h="2465070">
                <a:moveTo>
                  <a:pt x="152391" y="0"/>
                </a:moveTo>
                <a:lnTo>
                  <a:pt x="5436879" y="0"/>
                </a:lnTo>
                <a:cubicBezTo>
                  <a:pt x="5521042" y="0"/>
                  <a:pt x="5589270" y="68228"/>
                  <a:pt x="5589270" y="152391"/>
                </a:cubicBezTo>
                <a:lnTo>
                  <a:pt x="5589270" y="2312679"/>
                </a:lnTo>
                <a:cubicBezTo>
                  <a:pt x="5589270" y="2396842"/>
                  <a:pt x="5521042" y="2465070"/>
                  <a:pt x="5436879" y="2465070"/>
                </a:cubicBezTo>
                <a:lnTo>
                  <a:pt x="152391" y="2465070"/>
                </a:lnTo>
                <a:cubicBezTo>
                  <a:pt x="68228" y="2465070"/>
                  <a:pt x="0" y="2396842"/>
                  <a:pt x="0" y="231267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22720" y="468058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51307" y="4842511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5719" y="53578"/>
                </a:moveTo>
                <a:cubicBezTo>
                  <a:pt x="35719" y="33877"/>
                  <a:pt x="51736" y="17859"/>
                  <a:pt x="71438" y="17859"/>
                </a:cubicBezTo>
                <a:lnTo>
                  <a:pt x="285750" y="17859"/>
                </a:lnTo>
                <a:cubicBezTo>
                  <a:pt x="305451" y="17859"/>
                  <a:pt x="321469" y="33877"/>
                  <a:pt x="321469" y="53578"/>
                </a:cubicBezTo>
                <a:lnTo>
                  <a:pt x="321469" y="187523"/>
                </a:lnTo>
                <a:lnTo>
                  <a:pt x="285750" y="187523"/>
                </a:lnTo>
                <a:lnTo>
                  <a:pt x="285750" y="53578"/>
                </a:lnTo>
                <a:lnTo>
                  <a:pt x="71438" y="53578"/>
                </a:lnTo>
                <a:lnTo>
                  <a:pt x="71438" y="187523"/>
                </a:lnTo>
                <a:lnTo>
                  <a:pt x="35719" y="187523"/>
                </a:lnTo>
                <a:lnTo>
                  <a:pt x="35719" y="53578"/>
                </a:lnTo>
                <a:close/>
                <a:moveTo>
                  <a:pt x="0" y="225028"/>
                </a:moveTo>
                <a:cubicBezTo>
                  <a:pt x="0" y="219112"/>
                  <a:pt x="4800" y="214313"/>
                  <a:pt x="10716" y="214313"/>
                </a:cubicBezTo>
                <a:lnTo>
                  <a:pt x="346472" y="214313"/>
                </a:lnTo>
                <a:cubicBezTo>
                  <a:pt x="352388" y="214313"/>
                  <a:pt x="357188" y="219112"/>
                  <a:pt x="357188" y="225028"/>
                </a:cubicBezTo>
                <a:cubicBezTo>
                  <a:pt x="357188" y="248692"/>
                  <a:pt x="337989" y="267891"/>
                  <a:pt x="314325" y="267891"/>
                </a:cubicBezTo>
                <a:lnTo>
                  <a:pt x="42863" y="267891"/>
                </a:lnTo>
                <a:cubicBezTo>
                  <a:pt x="19199" y="267891"/>
                  <a:pt x="0" y="248692"/>
                  <a:pt x="0" y="225028"/>
                </a:cubicBezTo>
                <a:close/>
                <a:moveTo>
                  <a:pt x="156828" y="116644"/>
                </a:moveTo>
                <a:lnTo>
                  <a:pt x="139526" y="133945"/>
                </a:lnTo>
                <a:lnTo>
                  <a:pt x="156828" y="151247"/>
                </a:lnTo>
                <a:cubicBezTo>
                  <a:pt x="162074" y="156493"/>
                  <a:pt x="162074" y="164976"/>
                  <a:pt x="156828" y="170166"/>
                </a:cubicBezTo>
                <a:cubicBezTo>
                  <a:pt x="151581" y="175357"/>
                  <a:pt x="143098" y="175413"/>
                  <a:pt x="137908" y="170166"/>
                </a:cubicBezTo>
                <a:lnTo>
                  <a:pt x="111119" y="143377"/>
                </a:lnTo>
                <a:cubicBezTo>
                  <a:pt x="105873" y="138131"/>
                  <a:pt x="105873" y="129648"/>
                  <a:pt x="111119" y="124458"/>
                </a:cubicBezTo>
                <a:lnTo>
                  <a:pt x="137908" y="97668"/>
                </a:lnTo>
                <a:cubicBezTo>
                  <a:pt x="143154" y="92422"/>
                  <a:pt x="151637" y="92422"/>
                  <a:pt x="156828" y="97668"/>
                </a:cubicBezTo>
                <a:cubicBezTo>
                  <a:pt x="162018" y="102915"/>
                  <a:pt x="162074" y="111398"/>
                  <a:pt x="156828" y="116588"/>
                </a:cubicBezTo>
                <a:close/>
                <a:moveTo>
                  <a:pt x="219335" y="97668"/>
                </a:moveTo>
                <a:lnTo>
                  <a:pt x="246125" y="124458"/>
                </a:lnTo>
                <a:cubicBezTo>
                  <a:pt x="251371" y="129704"/>
                  <a:pt x="251371" y="138187"/>
                  <a:pt x="246125" y="143377"/>
                </a:cubicBezTo>
                <a:lnTo>
                  <a:pt x="219335" y="170166"/>
                </a:lnTo>
                <a:cubicBezTo>
                  <a:pt x="214089" y="175413"/>
                  <a:pt x="205606" y="175413"/>
                  <a:pt x="200416" y="170166"/>
                </a:cubicBezTo>
                <a:cubicBezTo>
                  <a:pt x="195225" y="164920"/>
                  <a:pt x="195169" y="156437"/>
                  <a:pt x="200416" y="151247"/>
                </a:cubicBezTo>
                <a:lnTo>
                  <a:pt x="217717" y="133945"/>
                </a:lnTo>
                <a:lnTo>
                  <a:pt x="200416" y="116644"/>
                </a:lnTo>
                <a:cubicBezTo>
                  <a:pt x="195169" y="111398"/>
                  <a:pt x="195169" y="102915"/>
                  <a:pt x="200416" y="97724"/>
                </a:cubicBezTo>
                <a:cubicBezTo>
                  <a:pt x="205662" y="92534"/>
                  <a:pt x="214145" y="92478"/>
                  <a:pt x="219335" y="9772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7284720" y="460438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Unfilled Tech Jobs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84720" y="4794886"/>
            <a:ext cx="1762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118K+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22720" y="5518786"/>
            <a:ext cx="50673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jobs remain unfilled despite high unemployment, indicating 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 mismatch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a lack of opportunities.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461" y="377461"/>
            <a:ext cx="37746" cy="301969"/>
          </a:xfrm>
          <a:custGeom>
            <a:avLst/>
            <a:gdLst/>
            <a:ahLst/>
            <a:cxnLst/>
            <a:rect l="l" t="t" r="r" b="b"/>
            <a:pathLst>
              <a:path w="37746" h="301969">
                <a:moveTo>
                  <a:pt x="18873" y="0"/>
                </a:moveTo>
                <a:lnTo>
                  <a:pt x="18873" y="0"/>
                </a:lnTo>
                <a:cubicBezTo>
                  <a:pt x="29289" y="0"/>
                  <a:pt x="37746" y="8457"/>
                  <a:pt x="37746" y="18873"/>
                </a:cubicBezTo>
                <a:lnTo>
                  <a:pt x="37746" y="283096"/>
                </a:lnTo>
                <a:cubicBezTo>
                  <a:pt x="37746" y="293512"/>
                  <a:pt x="29289" y="301969"/>
                  <a:pt x="18873" y="301969"/>
                </a:cubicBezTo>
                <a:lnTo>
                  <a:pt x="18873" y="301969"/>
                </a:lnTo>
                <a:cubicBezTo>
                  <a:pt x="8457" y="301969"/>
                  <a:pt x="0" y="293512"/>
                  <a:pt x="0" y="283096"/>
                </a:cubicBezTo>
                <a:lnTo>
                  <a:pt x="0" y="18873"/>
                </a:lnTo>
                <a:cubicBezTo>
                  <a:pt x="0" y="8457"/>
                  <a:pt x="8457" y="0"/>
                  <a:pt x="1887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28446" y="434080"/>
            <a:ext cx="143435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461" y="792669"/>
            <a:ext cx="1166355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Problem: The Application &amp; Access Gap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236" y="1475874"/>
            <a:ext cx="6150732" cy="1706125"/>
          </a:xfrm>
          <a:custGeom>
            <a:avLst/>
            <a:gdLst/>
            <a:ahLst/>
            <a:cxnLst/>
            <a:rect l="l" t="t" r="r" b="b"/>
            <a:pathLst>
              <a:path w="6150732" h="1706125">
                <a:moveTo>
                  <a:pt x="150992" y="0"/>
                </a:moveTo>
                <a:lnTo>
                  <a:pt x="5999740" y="0"/>
                </a:lnTo>
                <a:cubicBezTo>
                  <a:pt x="6083075" y="0"/>
                  <a:pt x="6150732" y="67657"/>
                  <a:pt x="6150732" y="150992"/>
                </a:cubicBezTo>
                <a:lnTo>
                  <a:pt x="6150732" y="1555133"/>
                </a:lnTo>
                <a:cubicBezTo>
                  <a:pt x="6150732" y="1638524"/>
                  <a:pt x="6083130" y="1706125"/>
                  <a:pt x="5999740" y="1706125"/>
                </a:cubicBezTo>
                <a:lnTo>
                  <a:pt x="150992" y="1706125"/>
                </a:lnTo>
                <a:cubicBezTo>
                  <a:pt x="67657" y="1706125"/>
                  <a:pt x="0" y="1638468"/>
                  <a:pt x="0" y="1555133"/>
                </a:cubicBezTo>
                <a:lnTo>
                  <a:pt x="0" y="150992"/>
                </a:lnTo>
                <a:cubicBezTo>
                  <a:pt x="0" y="67657"/>
                  <a:pt x="67657" y="0"/>
                  <a:pt x="15099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1487" y="1706126"/>
            <a:ext cx="528446" cy="528446"/>
          </a:xfrm>
          <a:custGeom>
            <a:avLst/>
            <a:gdLst/>
            <a:ahLst/>
            <a:cxnLst/>
            <a:rect l="l" t="t" r="r" b="b"/>
            <a:pathLst>
              <a:path w="528446" h="528446">
                <a:moveTo>
                  <a:pt x="113241" y="0"/>
                </a:moveTo>
                <a:lnTo>
                  <a:pt x="415205" y="0"/>
                </a:lnTo>
                <a:cubicBezTo>
                  <a:pt x="477746" y="0"/>
                  <a:pt x="528446" y="50700"/>
                  <a:pt x="528446" y="113241"/>
                </a:cubicBezTo>
                <a:lnTo>
                  <a:pt x="528446" y="415205"/>
                </a:lnTo>
                <a:cubicBezTo>
                  <a:pt x="528446" y="477746"/>
                  <a:pt x="477746" y="528446"/>
                  <a:pt x="415205" y="528446"/>
                </a:cubicBezTo>
                <a:lnTo>
                  <a:pt x="113241" y="528446"/>
                </a:lnTo>
                <a:cubicBezTo>
                  <a:pt x="50700" y="528446"/>
                  <a:pt x="0" y="477746"/>
                  <a:pt x="0" y="415205"/>
                </a:cubicBezTo>
                <a:lnTo>
                  <a:pt x="0" y="113241"/>
                </a:lnTo>
                <a:cubicBezTo>
                  <a:pt x="0" y="50700"/>
                  <a:pt x="50700" y="0"/>
                  <a:pt x="11324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472" y="1857110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98167" y="113238"/>
                </a:moveTo>
                <a:cubicBezTo>
                  <a:pt x="198167" y="66365"/>
                  <a:pt x="160112" y="28310"/>
                  <a:pt x="113238" y="28310"/>
                </a:cubicBezTo>
                <a:cubicBezTo>
                  <a:pt x="66365" y="28310"/>
                  <a:pt x="28310" y="66365"/>
                  <a:pt x="28310" y="113238"/>
                </a:cubicBezTo>
                <a:cubicBezTo>
                  <a:pt x="28310" y="160112"/>
                  <a:pt x="66365" y="198167"/>
                  <a:pt x="113238" y="198167"/>
                </a:cubicBezTo>
                <a:cubicBezTo>
                  <a:pt x="160112" y="198167"/>
                  <a:pt x="198167" y="160112"/>
                  <a:pt x="198167" y="113238"/>
                </a:cubicBezTo>
                <a:close/>
                <a:moveTo>
                  <a:pt x="0" y="113238"/>
                </a:moveTo>
                <a:cubicBezTo>
                  <a:pt x="0" y="50740"/>
                  <a:pt x="50740" y="0"/>
                  <a:pt x="113238" y="0"/>
                </a:cubicBezTo>
                <a:cubicBezTo>
                  <a:pt x="175736" y="0"/>
                  <a:pt x="226477" y="50740"/>
                  <a:pt x="226477" y="113238"/>
                </a:cubicBezTo>
                <a:cubicBezTo>
                  <a:pt x="226477" y="175736"/>
                  <a:pt x="175736" y="226477"/>
                  <a:pt x="113238" y="226477"/>
                </a:cubicBezTo>
                <a:cubicBezTo>
                  <a:pt x="50740" y="226477"/>
                  <a:pt x="0" y="175736"/>
                  <a:pt x="0" y="113238"/>
                </a:cubicBezTo>
                <a:close/>
                <a:moveTo>
                  <a:pt x="113238" y="148625"/>
                </a:moveTo>
                <a:cubicBezTo>
                  <a:pt x="132769" y="148625"/>
                  <a:pt x="148625" y="132769"/>
                  <a:pt x="148625" y="113238"/>
                </a:cubicBezTo>
                <a:cubicBezTo>
                  <a:pt x="148625" y="93708"/>
                  <a:pt x="132769" y="77851"/>
                  <a:pt x="113238" y="77851"/>
                </a:cubicBezTo>
                <a:cubicBezTo>
                  <a:pt x="93708" y="77851"/>
                  <a:pt x="77851" y="93708"/>
                  <a:pt x="77851" y="113238"/>
                </a:cubicBezTo>
                <a:cubicBezTo>
                  <a:pt x="77851" y="132769"/>
                  <a:pt x="93708" y="148625"/>
                  <a:pt x="113238" y="148625"/>
                </a:cubicBezTo>
                <a:close/>
                <a:moveTo>
                  <a:pt x="113238" y="49542"/>
                </a:moveTo>
                <a:cubicBezTo>
                  <a:pt x="148393" y="49542"/>
                  <a:pt x="176935" y="78083"/>
                  <a:pt x="176935" y="113238"/>
                </a:cubicBezTo>
                <a:cubicBezTo>
                  <a:pt x="176935" y="148393"/>
                  <a:pt x="148393" y="176935"/>
                  <a:pt x="113238" y="176935"/>
                </a:cubicBezTo>
                <a:cubicBezTo>
                  <a:pt x="78083" y="176935"/>
                  <a:pt x="49542" y="148393"/>
                  <a:pt x="49542" y="113238"/>
                </a:cubicBezTo>
                <a:cubicBezTo>
                  <a:pt x="49542" y="78083"/>
                  <a:pt x="78083" y="49542"/>
                  <a:pt x="113238" y="49542"/>
                </a:cubicBezTo>
                <a:close/>
                <a:moveTo>
                  <a:pt x="99084" y="113238"/>
                </a:moveTo>
                <a:cubicBezTo>
                  <a:pt x="99084" y="105426"/>
                  <a:pt x="105426" y="99084"/>
                  <a:pt x="113238" y="99084"/>
                </a:cubicBezTo>
                <a:cubicBezTo>
                  <a:pt x="121051" y="99084"/>
                  <a:pt x="127393" y="105426"/>
                  <a:pt x="127393" y="113238"/>
                </a:cubicBezTo>
                <a:cubicBezTo>
                  <a:pt x="127393" y="121051"/>
                  <a:pt x="121051" y="127393"/>
                  <a:pt x="113238" y="127393"/>
                </a:cubicBezTo>
                <a:cubicBezTo>
                  <a:pt x="105426" y="127393"/>
                  <a:pt x="99084" y="121051"/>
                  <a:pt x="99084" y="1132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328664" y="1706126"/>
            <a:ext cx="5086291" cy="3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Main Issue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8664" y="2121215"/>
            <a:ext cx="5057981" cy="830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primary challenge is an </a:t>
            </a:r>
            <a:pPr>
              <a:lnSpc>
                <a:spcPct val="14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and access gap</a:t>
            </a:r>
            <a:pPr>
              <a:lnSpc>
                <a:spcPct val="140000"/>
              </a:lnSpc>
            </a:pPr>
            <a:r>
              <a:rPr lang="en-US" sz="133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job market. Young people have skills, but they struggle to navigate the modern hiring landscape effectively.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236" y="3375803"/>
            <a:ext cx="6150732" cy="3480193"/>
          </a:xfrm>
          <a:custGeom>
            <a:avLst/>
            <a:gdLst/>
            <a:ahLst/>
            <a:cxnLst/>
            <a:rect l="l" t="t" r="r" b="b"/>
            <a:pathLst>
              <a:path w="6150732" h="3480193">
                <a:moveTo>
                  <a:pt x="150971" y="0"/>
                </a:moveTo>
                <a:lnTo>
                  <a:pt x="5999761" y="0"/>
                </a:lnTo>
                <a:cubicBezTo>
                  <a:pt x="6083140" y="0"/>
                  <a:pt x="6150732" y="67592"/>
                  <a:pt x="6150732" y="150971"/>
                </a:cubicBezTo>
                <a:lnTo>
                  <a:pt x="6150732" y="3329222"/>
                </a:lnTo>
                <a:cubicBezTo>
                  <a:pt x="6150732" y="3412601"/>
                  <a:pt x="6083140" y="3480193"/>
                  <a:pt x="5999761" y="3480193"/>
                </a:cubicBezTo>
                <a:lnTo>
                  <a:pt x="150971" y="3480193"/>
                </a:lnTo>
                <a:cubicBezTo>
                  <a:pt x="67592" y="3480193"/>
                  <a:pt x="0" y="3412601"/>
                  <a:pt x="0" y="3329222"/>
                </a:cubicBezTo>
                <a:lnTo>
                  <a:pt x="0" y="150971"/>
                </a:lnTo>
                <a:cubicBezTo>
                  <a:pt x="0" y="67648"/>
                  <a:pt x="67648" y="0"/>
                  <a:pt x="15097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079" y="3643799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17693" y="53080"/>
                </a:moveTo>
                <a:cubicBezTo>
                  <a:pt x="27459" y="53080"/>
                  <a:pt x="35387" y="45152"/>
                  <a:pt x="35387" y="35387"/>
                </a:cubicBezTo>
                <a:cubicBezTo>
                  <a:pt x="35387" y="25622"/>
                  <a:pt x="27459" y="17693"/>
                  <a:pt x="17693" y="17693"/>
                </a:cubicBezTo>
                <a:cubicBezTo>
                  <a:pt x="7928" y="17693"/>
                  <a:pt x="0" y="25622"/>
                  <a:pt x="0" y="35387"/>
                </a:cubicBezTo>
                <a:cubicBezTo>
                  <a:pt x="0" y="45152"/>
                  <a:pt x="7928" y="53080"/>
                  <a:pt x="17693" y="53080"/>
                </a:cubicBezTo>
                <a:close/>
                <a:moveTo>
                  <a:pt x="70774" y="23591"/>
                </a:moveTo>
                <a:cubicBezTo>
                  <a:pt x="64250" y="23591"/>
                  <a:pt x="58978" y="28863"/>
                  <a:pt x="58978" y="35387"/>
                </a:cubicBezTo>
                <a:cubicBezTo>
                  <a:pt x="58978" y="41911"/>
                  <a:pt x="64250" y="47183"/>
                  <a:pt x="70774" y="47183"/>
                </a:cubicBezTo>
                <a:lnTo>
                  <a:pt x="176935" y="47183"/>
                </a:lnTo>
                <a:cubicBezTo>
                  <a:pt x="183459" y="47183"/>
                  <a:pt x="188731" y="41911"/>
                  <a:pt x="188731" y="35387"/>
                </a:cubicBezTo>
                <a:cubicBezTo>
                  <a:pt x="188731" y="28863"/>
                  <a:pt x="183459" y="23591"/>
                  <a:pt x="176935" y="23591"/>
                </a:cubicBezTo>
                <a:lnTo>
                  <a:pt x="70774" y="23591"/>
                </a:lnTo>
                <a:close/>
                <a:moveTo>
                  <a:pt x="70774" y="82570"/>
                </a:moveTo>
                <a:cubicBezTo>
                  <a:pt x="64250" y="82570"/>
                  <a:pt x="58978" y="87841"/>
                  <a:pt x="58978" y="94365"/>
                </a:cubicBezTo>
                <a:cubicBezTo>
                  <a:pt x="58978" y="100890"/>
                  <a:pt x="64250" y="106161"/>
                  <a:pt x="70774" y="106161"/>
                </a:cubicBezTo>
                <a:lnTo>
                  <a:pt x="176935" y="106161"/>
                </a:lnTo>
                <a:cubicBezTo>
                  <a:pt x="183459" y="106161"/>
                  <a:pt x="188731" y="100890"/>
                  <a:pt x="188731" y="94365"/>
                </a:cubicBezTo>
                <a:cubicBezTo>
                  <a:pt x="188731" y="87841"/>
                  <a:pt x="183459" y="82570"/>
                  <a:pt x="176935" y="82570"/>
                </a:cubicBezTo>
                <a:lnTo>
                  <a:pt x="70774" y="82570"/>
                </a:lnTo>
                <a:close/>
                <a:moveTo>
                  <a:pt x="70774" y="141548"/>
                </a:moveTo>
                <a:cubicBezTo>
                  <a:pt x="64250" y="141548"/>
                  <a:pt x="58978" y="146819"/>
                  <a:pt x="58978" y="153344"/>
                </a:cubicBezTo>
                <a:cubicBezTo>
                  <a:pt x="58978" y="159868"/>
                  <a:pt x="64250" y="165139"/>
                  <a:pt x="70774" y="165139"/>
                </a:cubicBezTo>
                <a:lnTo>
                  <a:pt x="176935" y="165139"/>
                </a:lnTo>
                <a:cubicBezTo>
                  <a:pt x="183459" y="165139"/>
                  <a:pt x="188731" y="159868"/>
                  <a:pt x="188731" y="153344"/>
                </a:cubicBezTo>
                <a:cubicBezTo>
                  <a:pt x="188731" y="146819"/>
                  <a:pt x="183459" y="141548"/>
                  <a:pt x="176935" y="141548"/>
                </a:cubicBezTo>
                <a:lnTo>
                  <a:pt x="70774" y="141548"/>
                </a:lnTo>
                <a:close/>
                <a:moveTo>
                  <a:pt x="17693" y="171037"/>
                </a:moveTo>
                <a:cubicBezTo>
                  <a:pt x="27459" y="171037"/>
                  <a:pt x="35387" y="163109"/>
                  <a:pt x="35387" y="153344"/>
                </a:cubicBezTo>
                <a:cubicBezTo>
                  <a:pt x="35387" y="143578"/>
                  <a:pt x="27459" y="135650"/>
                  <a:pt x="17693" y="135650"/>
                </a:cubicBezTo>
                <a:cubicBezTo>
                  <a:pt x="7928" y="135650"/>
                  <a:pt x="0" y="143578"/>
                  <a:pt x="0" y="153344"/>
                </a:cubicBezTo>
                <a:cubicBezTo>
                  <a:pt x="0" y="163109"/>
                  <a:pt x="7928" y="171037"/>
                  <a:pt x="17693" y="171037"/>
                </a:cubicBezTo>
                <a:close/>
                <a:moveTo>
                  <a:pt x="35387" y="94365"/>
                </a:moveTo>
                <a:cubicBezTo>
                  <a:pt x="35387" y="84600"/>
                  <a:pt x="27459" y="76672"/>
                  <a:pt x="17693" y="76672"/>
                </a:cubicBezTo>
                <a:cubicBezTo>
                  <a:pt x="7928" y="76672"/>
                  <a:pt x="0" y="84600"/>
                  <a:pt x="0" y="94365"/>
                </a:cubicBezTo>
                <a:cubicBezTo>
                  <a:pt x="0" y="104131"/>
                  <a:pt x="7928" y="112059"/>
                  <a:pt x="17693" y="112059"/>
                </a:cubicBezTo>
                <a:cubicBezTo>
                  <a:pt x="27459" y="112059"/>
                  <a:pt x="35387" y="104131"/>
                  <a:pt x="35387" y="9436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47401" y="3606052"/>
            <a:ext cx="5548681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Barriers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1487" y="4096752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75492" y="0"/>
                </a:moveTo>
                <a:lnTo>
                  <a:pt x="301969" y="0"/>
                </a:lnTo>
                <a:cubicBezTo>
                  <a:pt x="343662" y="0"/>
                  <a:pt x="377461" y="33799"/>
                  <a:pt x="377461" y="75492"/>
                </a:cubicBezTo>
                <a:lnTo>
                  <a:pt x="377461" y="301969"/>
                </a:lnTo>
                <a:cubicBezTo>
                  <a:pt x="377461" y="343662"/>
                  <a:pt x="343662" y="377461"/>
                  <a:pt x="301969" y="377461"/>
                </a:cubicBezTo>
                <a:lnTo>
                  <a:pt x="75492" y="377461"/>
                </a:lnTo>
                <a:cubicBezTo>
                  <a:pt x="33799" y="377461"/>
                  <a:pt x="0" y="343662"/>
                  <a:pt x="0" y="301969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21777" y="4172244"/>
            <a:ext cx="23591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9933" y="4059006"/>
            <a:ext cx="524671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Skills Gap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9933" y="4360975"/>
            <a:ext cx="5237276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 youths lack the digital skills required for modern hiring systems and online job applications.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1487" y="5002659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75492" y="0"/>
                </a:moveTo>
                <a:lnTo>
                  <a:pt x="301969" y="0"/>
                </a:lnTo>
                <a:cubicBezTo>
                  <a:pt x="343662" y="0"/>
                  <a:pt x="377461" y="33799"/>
                  <a:pt x="377461" y="75492"/>
                </a:cubicBezTo>
                <a:lnTo>
                  <a:pt x="377461" y="301969"/>
                </a:lnTo>
                <a:cubicBezTo>
                  <a:pt x="377461" y="343662"/>
                  <a:pt x="343662" y="377461"/>
                  <a:pt x="301969" y="377461"/>
                </a:cubicBezTo>
                <a:lnTo>
                  <a:pt x="75492" y="377461"/>
                </a:lnTo>
                <a:cubicBezTo>
                  <a:pt x="33799" y="377461"/>
                  <a:pt x="0" y="343662"/>
                  <a:pt x="0" y="301969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8094" y="5078152"/>
            <a:ext cx="26422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9933" y="4964913"/>
            <a:ext cx="524671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Tools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9933" y="5266882"/>
            <a:ext cx="5237276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Career tools are scattered across multiple platforms, creating confusion and inefficiency.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1487" y="5908566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75492" y="0"/>
                </a:moveTo>
                <a:lnTo>
                  <a:pt x="301969" y="0"/>
                </a:lnTo>
                <a:cubicBezTo>
                  <a:pt x="343662" y="0"/>
                  <a:pt x="377461" y="33799"/>
                  <a:pt x="377461" y="75492"/>
                </a:cubicBezTo>
                <a:lnTo>
                  <a:pt x="377461" y="301969"/>
                </a:lnTo>
                <a:cubicBezTo>
                  <a:pt x="377461" y="343662"/>
                  <a:pt x="343662" y="377461"/>
                  <a:pt x="301969" y="377461"/>
                </a:cubicBezTo>
                <a:lnTo>
                  <a:pt x="75492" y="377461"/>
                </a:lnTo>
                <a:cubicBezTo>
                  <a:pt x="33799" y="377461"/>
                  <a:pt x="0" y="343662"/>
                  <a:pt x="0" y="301969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07504" y="5984059"/>
            <a:ext cx="264223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9933" y="5870820"/>
            <a:ext cx="524671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Guidance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9933" y="6172789"/>
            <a:ext cx="5237276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is little guidance available during the application process, leaving young people to navigate alone.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7527" y="1475874"/>
            <a:ext cx="5046658" cy="5376936"/>
          </a:xfrm>
          <a:custGeom>
            <a:avLst/>
            <a:gdLst/>
            <a:ahLst/>
            <a:cxnLst/>
            <a:rect l="l" t="t" r="r" b="b"/>
            <a:pathLst>
              <a:path w="5046658" h="5376936">
                <a:moveTo>
                  <a:pt x="150996" y="0"/>
                </a:moveTo>
                <a:lnTo>
                  <a:pt x="4895662" y="0"/>
                </a:lnTo>
                <a:cubicBezTo>
                  <a:pt x="4979054" y="0"/>
                  <a:pt x="5046658" y="67603"/>
                  <a:pt x="5046658" y="150996"/>
                </a:cubicBezTo>
                <a:lnTo>
                  <a:pt x="5046658" y="5225940"/>
                </a:lnTo>
                <a:cubicBezTo>
                  <a:pt x="5046658" y="5309333"/>
                  <a:pt x="4979054" y="5376936"/>
                  <a:pt x="4895662" y="5376936"/>
                </a:cubicBezTo>
                <a:lnTo>
                  <a:pt x="150996" y="5376936"/>
                </a:lnTo>
                <a:cubicBezTo>
                  <a:pt x="67603" y="5376936"/>
                  <a:pt x="0" y="5309333"/>
                  <a:pt x="0" y="5225940"/>
                </a:cubicBezTo>
                <a:lnTo>
                  <a:pt x="0" y="150996"/>
                </a:lnTo>
                <a:cubicBezTo>
                  <a:pt x="0" y="67659"/>
                  <a:pt x="67659" y="0"/>
                  <a:pt x="1509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pic>
        <p:nvPicPr>
          <p:cNvPr id="26" name="Image 0" descr="https://kimi-web-img.moonshot.cn/img/www.africatraininginstitute.org/294706937fd42fc0d696169aa790d63a9762f698.jpg">    </p:cNvPr>
          <p:cNvPicPr>
            <a:picLocks noChangeAspect="1"/>
          </p:cNvPicPr>
          <p:nvPr/>
        </p:nvPicPr>
        <p:blipFill>
          <a:blip r:embed="rId1"/>
          <a:srcRect l="0" r="0" t="14062" b="14062"/>
          <a:stretch/>
        </p:blipFill>
        <p:spPr>
          <a:xfrm>
            <a:off x="6771302" y="1479649"/>
            <a:ext cx="5039108" cy="2415752"/>
          </a:xfrm>
          <a:prstGeom prst="roundRect">
            <a:avLst>
              <a:gd name="adj" fmla="val 2996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7001553" y="4416888"/>
            <a:ext cx="4574831" cy="1913729"/>
          </a:xfrm>
          <a:custGeom>
            <a:avLst/>
            <a:gdLst/>
            <a:ahLst/>
            <a:cxnLst/>
            <a:rect l="l" t="t" r="r" b="b"/>
            <a:pathLst>
              <a:path w="4574831" h="1913729">
                <a:moveTo>
                  <a:pt x="113235" y="0"/>
                </a:moveTo>
                <a:lnTo>
                  <a:pt x="4461596" y="0"/>
                </a:lnTo>
                <a:cubicBezTo>
                  <a:pt x="4524134" y="0"/>
                  <a:pt x="4574831" y="50697"/>
                  <a:pt x="4574831" y="113235"/>
                </a:cubicBezTo>
                <a:lnTo>
                  <a:pt x="4574831" y="1800493"/>
                </a:lnTo>
                <a:cubicBezTo>
                  <a:pt x="4574831" y="1863032"/>
                  <a:pt x="4524134" y="1913729"/>
                  <a:pt x="4461596" y="1913729"/>
                </a:cubicBezTo>
                <a:lnTo>
                  <a:pt x="113235" y="1913729"/>
                </a:lnTo>
                <a:cubicBezTo>
                  <a:pt x="50697" y="1913729"/>
                  <a:pt x="0" y="1863032"/>
                  <a:pt x="0" y="1800493"/>
                </a:cubicBezTo>
                <a:lnTo>
                  <a:pt x="0" y="113235"/>
                </a:lnTo>
                <a:cubicBezTo>
                  <a:pt x="0" y="50739"/>
                  <a:pt x="50739" y="0"/>
                  <a:pt x="1132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94058" y="4609394"/>
            <a:ext cx="4255876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Insight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94058" y="4911363"/>
            <a:ext cx="4284186" cy="1226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gap isn't about </a:t>
            </a:r>
            <a:pPr>
              <a:lnSpc>
                <a:spcPct val="140000"/>
              </a:lnSpc>
            </a:pPr>
            <a:r>
              <a:rPr lang="en-US" sz="14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capability</a:t>
            </a:r>
            <a:pPr>
              <a:lnSpc>
                <a:spcPct val="140000"/>
              </a:lnSpc>
            </a:pPr>
            <a:r>
              <a:rPr lang="en-US" sz="148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—it's about </a:t>
            </a:r>
            <a:pPr>
              <a:lnSpc>
                <a:spcPct val="140000"/>
              </a:lnSpc>
            </a:pPr>
            <a:r>
              <a:rPr lang="en-US" sz="14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and guidance</a:t>
            </a:r>
            <a:pPr>
              <a:lnSpc>
                <a:spcPct val="140000"/>
              </a:lnSpc>
            </a:pPr>
            <a:r>
              <a:rPr lang="en-US" sz="148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Young people need support navigating the digital job market, not just skills training.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Perspective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 Reality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young job seekers actually 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832610"/>
            <a:ext cx="5589270" cy="1550670"/>
          </a:xfrm>
          <a:custGeom>
            <a:avLst/>
            <a:gdLst/>
            <a:ahLst/>
            <a:cxnLst/>
            <a:rect l="l" t="t" r="r" b="b"/>
            <a:pathLst>
              <a:path w="5589270" h="1550670">
                <a:moveTo>
                  <a:pt x="152400" y="0"/>
                </a:moveTo>
                <a:lnTo>
                  <a:pt x="5436870" y="0"/>
                </a:lnTo>
                <a:cubicBezTo>
                  <a:pt x="5521038" y="0"/>
                  <a:pt x="5589270" y="68232"/>
                  <a:pt x="5589270" y="152400"/>
                </a:cubicBezTo>
                <a:lnTo>
                  <a:pt x="5589270" y="1398270"/>
                </a:lnTo>
                <a:cubicBezTo>
                  <a:pt x="5589270" y="1482438"/>
                  <a:pt x="5521038" y="1550670"/>
                  <a:pt x="5436870" y="1550670"/>
                </a:cubicBezTo>
                <a:lnTo>
                  <a:pt x="152400" y="1550670"/>
                </a:lnTo>
                <a:cubicBezTo>
                  <a:pt x="68232" y="1550670"/>
                  <a:pt x="0" y="1482438"/>
                  <a:pt x="0" y="139827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20650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9620" y="22174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341120" y="206502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Platforms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41120" y="2407920"/>
            <a:ext cx="4476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platforms are often complex and difficult to navigate, with confusing interfaces and overwhelming requirements that discourage young applicants.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581401"/>
            <a:ext cx="5589270" cy="1550670"/>
          </a:xfrm>
          <a:custGeom>
            <a:avLst/>
            <a:gdLst/>
            <a:ahLst/>
            <a:cxnLst/>
            <a:rect l="l" t="t" r="r" b="b"/>
            <a:pathLst>
              <a:path w="5589270" h="1550670">
                <a:moveTo>
                  <a:pt x="152400" y="0"/>
                </a:moveTo>
                <a:lnTo>
                  <a:pt x="5436870" y="0"/>
                </a:lnTo>
                <a:cubicBezTo>
                  <a:pt x="5521038" y="0"/>
                  <a:pt x="5589270" y="68232"/>
                  <a:pt x="5589270" y="152400"/>
                </a:cubicBezTo>
                <a:lnTo>
                  <a:pt x="5589270" y="1398270"/>
                </a:lnTo>
                <a:cubicBezTo>
                  <a:pt x="5589270" y="1482438"/>
                  <a:pt x="5521038" y="1550670"/>
                  <a:pt x="5436870" y="1550670"/>
                </a:cubicBezTo>
                <a:lnTo>
                  <a:pt x="152400" y="1550670"/>
                </a:lnTo>
                <a:cubicBezTo>
                  <a:pt x="68232" y="1550670"/>
                  <a:pt x="0" y="1482438"/>
                  <a:pt x="0" y="139827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" y="38138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8195" y="396621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341120" y="3813811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Mobile-Only 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41120" y="4156711"/>
            <a:ext cx="4476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 young people rely only on smartphones for internet access, limiting their ability to use desktop-optimized job platforms and create professional documents.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4110" y="1832610"/>
            <a:ext cx="5589270" cy="1550670"/>
          </a:xfrm>
          <a:custGeom>
            <a:avLst/>
            <a:gdLst/>
            <a:ahLst/>
            <a:cxnLst/>
            <a:rect l="l" t="t" r="r" b="b"/>
            <a:pathLst>
              <a:path w="5589270" h="1550670">
                <a:moveTo>
                  <a:pt x="152400" y="0"/>
                </a:moveTo>
                <a:lnTo>
                  <a:pt x="5436870" y="0"/>
                </a:lnTo>
                <a:cubicBezTo>
                  <a:pt x="5521038" y="0"/>
                  <a:pt x="5589270" y="68232"/>
                  <a:pt x="5589270" y="152400"/>
                </a:cubicBezTo>
                <a:lnTo>
                  <a:pt x="5589270" y="1398270"/>
                </a:lnTo>
                <a:cubicBezTo>
                  <a:pt x="5589270" y="1482438"/>
                  <a:pt x="5521038" y="1550670"/>
                  <a:pt x="5436870" y="1550670"/>
                </a:cubicBezTo>
                <a:lnTo>
                  <a:pt x="152400" y="1550670"/>
                </a:lnTo>
                <a:cubicBezTo>
                  <a:pt x="68232" y="1550670"/>
                  <a:pt x="0" y="1482438"/>
                  <a:pt x="0" y="139827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0650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41782" y="221742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170420" y="206502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Data Costs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0420" y="2407920"/>
            <a:ext cx="4476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data costs limit their ability to search and apply for jobs. Each application, search, and document download consumes precious data resources.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4110" y="3581401"/>
            <a:ext cx="5589270" cy="1550670"/>
          </a:xfrm>
          <a:custGeom>
            <a:avLst/>
            <a:gdLst/>
            <a:ahLst/>
            <a:cxnLst/>
            <a:rect l="l" t="t" r="r" b="b"/>
            <a:pathLst>
              <a:path w="5589270" h="1550670">
                <a:moveTo>
                  <a:pt x="152400" y="0"/>
                </a:moveTo>
                <a:lnTo>
                  <a:pt x="5436870" y="0"/>
                </a:lnTo>
                <a:cubicBezTo>
                  <a:pt x="5521038" y="0"/>
                  <a:pt x="5589270" y="68232"/>
                  <a:pt x="5589270" y="152400"/>
                </a:cubicBezTo>
                <a:lnTo>
                  <a:pt x="5589270" y="1398270"/>
                </a:lnTo>
                <a:cubicBezTo>
                  <a:pt x="5589270" y="1482438"/>
                  <a:pt x="5521038" y="1550670"/>
                  <a:pt x="5436870" y="1550670"/>
                </a:cubicBezTo>
                <a:lnTo>
                  <a:pt x="152400" y="1550670"/>
                </a:lnTo>
                <a:cubicBezTo>
                  <a:pt x="68232" y="1550670"/>
                  <a:pt x="0" y="1482438"/>
                  <a:pt x="0" y="139827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8138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70345" y="396621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14288"/>
                </a:moveTo>
                <a:cubicBezTo>
                  <a:pt x="41389" y="14288"/>
                  <a:pt x="28575" y="27102"/>
                  <a:pt x="28575" y="42863"/>
                </a:cubicBezTo>
                <a:lnTo>
                  <a:pt x="28575" y="150019"/>
                </a:lnTo>
                <a:lnTo>
                  <a:pt x="57150" y="150019"/>
                </a:lnTo>
                <a:lnTo>
                  <a:pt x="57150" y="42863"/>
                </a:lnTo>
                <a:lnTo>
                  <a:pt x="228600" y="42863"/>
                </a:lnTo>
                <a:lnTo>
                  <a:pt x="228600" y="150019"/>
                </a:lnTo>
                <a:lnTo>
                  <a:pt x="257175" y="150019"/>
                </a:ln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57150" y="14288"/>
                </a:lnTo>
                <a:close/>
                <a:moveTo>
                  <a:pt x="8573" y="171450"/>
                </a:moveTo>
                <a:cubicBezTo>
                  <a:pt x="3840" y="171450"/>
                  <a:pt x="0" y="175290"/>
                  <a:pt x="0" y="180023"/>
                </a:cubicBezTo>
                <a:cubicBezTo>
                  <a:pt x="0" y="198953"/>
                  <a:pt x="15359" y="214313"/>
                  <a:pt x="34290" y="214313"/>
                </a:cubicBezTo>
                <a:lnTo>
                  <a:pt x="251460" y="214313"/>
                </a:lnTo>
                <a:cubicBezTo>
                  <a:pt x="270391" y="214313"/>
                  <a:pt x="285750" y="198953"/>
                  <a:pt x="285750" y="180023"/>
                </a:cubicBezTo>
                <a:cubicBezTo>
                  <a:pt x="285750" y="175290"/>
                  <a:pt x="281910" y="171450"/>
                  <a:pt x="277177" y="171450"/>
                </a:cubicBezTo>
                <a:lnTo>
                  <a:pt x="8573" y="17145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7170420" y="3813811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Skills Gap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0420" y="4156711"/>
            <a:ext cx="4476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 lack the digital skills needed for job applications, including creating professional CVs, writing cover letters, and navigating online application systems.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5330190"/>
            <a:ext cx="11418570" cy="1350645"/>
          </a:xfrm>
          <a:custGeom>
            <a:avLst/>
            <a:gdLst/>
            <a:ahLst/>
            <a:cxnLst/>
            <a:rect l="l" t="t" r="r" b="b"/>
            <a:pathLst>
              <a:path w="11418570" h="1350645">
                <a:moveTo>
                  <a:pt x="152393" y="0"/>
                </a:moveTo>
                <a:lnTo>
                  <a:pt x="11266177" y="0"/>
                </a:lnTo>
                <a:cubicBezTo>
                  <a:pt x="11350341" y="0"/>
                  <a:pt x="11418570" y="68229"/>
                  <a:pt x="11418570" y="152393"/>
                </a:cubicBezTo>
                <a:lnTo>
                  <a:pt x="11418570" y="1198252"/>
                </a:lnTo>
                <a:cubicBezTo>
                  <a:pt x="11418570" y="1282416"/>
                  <a:pt x="11350341" y="1350645"/>
                  <a:pt x="11266177" y="1350645"/>
                </a:cubicBezTo>
                <a:lnTo>
                  <a:pt x="152393" y="1350645"/>
                </a:lnTo>
                <a:cubicBezTo>
                  <a:pt x="68285" y="1350645"/>
                  <a:pt x="0" y="1282360"/>
                  <a:pt x="0" y="119825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" y="57007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7245" y="586263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1455420" y="5562600"/>
            <a:ext cx="1018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55420" y="5829300"/>
            <a:ext cx="102108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current job application ecosystem is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designed for the realities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young South African job seekers. We need a solution that works within their constraints.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Solutions &amp; Their 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89710"/>
            <a:ext cx="5589270" cy="4979670"/>
          </a:xfrm>
          <a:custGeom>
            <a:avLst/>
            <a:gdLst/>
            <a:ahLst/>
            <a:cxnLst/>
            <a:rect l="l" t="t" r="r" b="b"/>
            <a:pathLst>
              <a:path w="5589270" h="4979670">
                <a:moveTo>
                  <a:pt x="152378" y="0"/>
                </a:moveTo>
                <a:lnTo>
                  <a:pt x="5436892" y="0"/>
                </a:lnTo>
                <a:cubicBezTo>
                  <a:pt x="5521048" y="0"/>
                  <a:pt x="5589270" y="68222"/>
                  <a:pt x="5589270" y="152378"/>
                </a:cubicBezTo>
                <a:lnTo>
                  <a:pt x="5589270" y="4827292"/>
                </a:lnTo>
                <a:cubicBezTo>
                  <a:pt x="5589270" y="4911448"/>
                  <a:pt x="5521048" y="4979670"/>
                  <a:pt x="5436892" y="4979670"/>
                </a:cubicBezTo>
                <a:lnTo>
                  <a:pt x="152378" y="4979670"/>
                </a:lnTo>
                <a:cubicBezTo>
                  <a:pt x="68222" y="4979670"/>
                  <a:pt x="0" y="4911448"/>
                  <a:pt x="0" y="4827292"/>
                </a:cubicBezTo>
                <a:lnTo>
                  <a:pt x="0" y="152378"/>
                </a:lnTo>
                <a:cubicBezTo>
                  <a:pt x="0" y="68222"/>
                  <a:pt x="68222" y="0"/>
                  <a:pt x="15237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420" y="1798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5820" y="19507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379220" y="1912620"/>
            <a:ext cx="2238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Has Been Done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7230" y="2564133"/>
            <a:ext cx="4970145" cy="1379220"/>
          </a:xfrm>
          <a:custGeom>
            <a:avLst/>
            <a:gdLst/>
            <a:ahLst/>
            <a:cxnLst/>
            <a:rect l="l" t="t" r="r" b="b"/>
            <a:pathLst>
              <a:path w="4970145" h="1379220">
                <a:moveTo>
                  <a:pt x="114296" y="0"/>
                </a:moveTo>
                <a:lnTo>
                  <a:pt x="4855849" y="0"/>
                </a:lnTo>
                <a:cubicBezTo>
                  <a:pt x="4918973" y="0"/>
                  <a:pt x="4970145" y="51172"/>
                  <a:pt x="4970145" y="114296"/>
                </a:cubicBezTo>
                <a:lnTo>
                  <a:pt x="4970145" y="1264924"/>
                </a:lnTo>
                <a:cubicBezTo>
                  <a:pt x="4970145" y="1328048"/>
                  <a:pt x="4918973" y="1379220"/>
                  <a:pt x="4855849" y="1379220"/>
                </a:cubicBezTo>
                <a:lnTo>
                  <a:pt x="114296" y="1379220"/>
                </a:lnTo>
                <a:cubicBezTo>
                  <a:pt x="51172" y="1379220"/>
                  <a:pt x="0" y="1328048"/>
                  <a:pt x="0" y="126492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540" y="27584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6315" y="287274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386840" y="2815591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Skills Programs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1540" y="3253741"/>
            <a:ext cx="4657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Programs like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MTN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UNDP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 digital skills training opportunities, helping youth develop technical competencies.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7230" y="4141469"/>
            <a:ext cx="4970145" cy="1379220"/>
          </a:xfrm>
          <a:custGeom>
            <a:avLst/>
            <a:gdLst/>
            <a:ahLst/>
            <a:cxnLst/>
            <a:rect l="l" t="t" r="r" b="b"/>
            <a:pathLst>
              <a:path w="4970145" h="1379220">
                <a:moveTo>
                  <a:pt x="114296" y="0"/>
                </a:moveTo>
                <a:lnTo>
                  <a:pt x="4855849" y="0"/>
                </a:lnTo>
                <a:cubicBezTo>
                  <a:pt x="4918973" y="0"/>
                  <a:pt x="4970145" y="51172"/>
                  <a:pt x="4970145" y="114296"/>
                </a:cubicBezTo>
                <a:lnTo>
                  <a:pt x="4970145" y="1264924"/>
                </a:lnTo>
                <a:cubicBezTo>
                  <a:pt x="4970145" y="1328048"/>
                  <a:pt x="4918973" y="1379220"/>
                  <a:pt x="4855849" y="1379220"/>
                </a:cubicBezTo>
                <a:lnTo>
                  <a:pt x="114296" y="1379220"/>
                </a:lnTo>
                <a:cubicBezTo>
                  <a:pt x="51172" y="1379220"/>
                  <a:pt x="0" y="1328048"/>
                  <a:pt x="0" y="126492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" y="43357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6790" y="445008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386840" y="4392932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Youth Initiatives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1540" y="4831082"/>
            <a:ext cx="4657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Several initiatives aim to improve digital skills among youth, increasing access to technology education and career guidance.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4110" y="1489710"/>
            <a:ext cx="5589270" cy="4979670"/>
          </a:xfrm>
          <a:custGeom>
            <a:avLst/>
            <a:gdLst/>
            <a:ahLst/>
            <a:cxnLst/>
            <a:rect l="l" t="t" r="r" b="b"/>
            <a:pathLst>
              <a:path w="5589270" h="4979670">
                <a:moveTo>
                  <a:pt x="152378" y="0"/>
                </a:moveTo>
                <a:lnTo>
                  <a:pt x="5436892" y="0"/>
                </a:lnTo>
                <a:cubicBezTo>
                  <a:pt x="5521048" y="0"/>
                  <a:pt x="5589270" y="68222"/>
                  <a:pt x="5589270" y="152378"/>
                </a:cubicBezTo>
                <a:lnTo>
                  <a:pt x="5589270" y="4827292"/>
                </a:lnTo>
                <a:cubicBezTo>
                  <a:pt x="5589270" y="4911448"/>
                  <a:pt x="5521048" y="4979670"/>
                  <a:pt x="5436892" y="4979670"/>
                </a:cubicBezTo>
                <a:lnTo>
                  <a:pt x="152378" y="4979670"/>
                </a:lnTo>
                <a:cubicBezTo>
                  <a:pt x="68222" y="4979670"/>
                  <a:pt x="0" y="4911448"/>
                  <a:pt x="0" y="4827292"/>
                </a:cubicBezTo>
                <a:lnTo>
                  <a:pt x="0" y="152378"/>
                </a:lnTo>
                <a:cubicBezTo>
                  <a:pt x="0" y="68222"/>
                  <a:pt x="68222" y="0"/>
                  <a:pt x="15237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2720" y="1798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19507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7208520" y="1912620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Limitations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22720" y="25984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10826" y="268414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5" name="Text 23"/>
          <p:cNvSpPr/>
          <p:nvPr/>
        </p:nvSpPr>
        <p:spPr>
          <a:xfrm>
            <a:off x="6979920" y="2560323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 Gap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9920" y="2827023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still struggle to transition from training to employment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22720" y="32080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10826" y="329374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9" name="Text 27"/>
          <p:cNvSpPr/>
          <p:nvPr/>
        </p:nvSpPr>
        <p:spPr>
          <a:xfrm>
            <a:off x="6979920" y="3169923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Reach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79920" y="3436623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 programs only reach a small number of participants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22720" y="38176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10826" y="390334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6979920" y="3779523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Requirements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79920" y="4046223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Some require stable internet or physical attendance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22720" y="44272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10826" y="451294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7" name="Text 35"/>
          <p:cNvSpPr/>
          <p:nvPr/>
        </p:nvSpPr>
        <p:spPr>
          <a:xfrm>
            <a:off x="6979920" y="4389123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Skills-Only Focus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79920" y="4655823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focus on skills rather than job application 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Change is Needed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89710"/>
            <a:ext cx="6341745" cy="1303020"/>
          </a:xfrm>
          <a:custGeom>
            <a:avLst/>
            <a:gdLst/>
            <a:ahLst/>
            <a:cxnLst/>
            <a:rect l="l" t="t" r="r" b="b"/>
            <a:pathLst>
              <a:path w="6341745" h="1303020">
                <a:moveTo>
                  <a:pt x="152401" y="0"/>
                </a:moveTo>
                <a:lnTo>
                  <a:pt x="6189344" y="0"/>
                </a:lnTo>
                <a:cubicBezTo>
                  <a:pt x="6273513" y="0"/>
                  <a:pt x="6341745" y="68232"/>
                  <a:pt x="6341745" y="152401"/>
                </a:cubicBezTo>
                <a:lnTo>
                  <a:pt x="6341745" y="1150619"/>
                </a:lnTo>
                <a:cubicBezTo>
                  <a:pt x="6341745" y="1234788"/>
                  <a:pt x="6273513" y="1303020"/>
                  <a:pt x="6189344" y="1303020"/>
                </a:cubicBezTo>
                <a:lnTo>
                  <a:pt x="152401" y="1303020"/>
                </a:lnTo>
                <a:cubicBezTo>
                  <a:pt x="68289" y="1303020"/>
                  <a:pt x="0" y="1234731"/>
                  <a:pt x="0" y="11506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7221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8195" y="187452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341120" y="1722123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CV Writing Struggles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1120" y="2065023"/>
            <a:ext cx="5229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 youths struggle with CV writing, unable to create professional documents that pass ATS systems and catch recruiters' attention.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2990851"/>
            <a:ext cx="6341745" cy="1303020"/>
          </a:xfrm>
          <a:custGeom>
            <a:avLst/>
            <a:gdLst/>
            <a:ahLst/>
            <a:cxnLst/>
            <a:rect l="l" t="t" r="r" b="b"/>
            <a:pathLst>
              <a:path w="6341745" h="1303020">
                <a:moveTo>
                  <a:pt x="152401" y="0"/>
                </a:moveTo>
                <a:lnTo>
                  <a:pt x="6189344" y="0"/>
                </a:lnTo>
                <a:cubicBezTo>
                  <a:pt x="6273513" y="0"/>
                  <a:pt x="6341745" y="68232"/>
                  <a:pt x="6341745" y="152401"/>
                </a:cubicBezTo>
                <a:lnTo>
                  <a:pt x="6341745" y="1150619"/>
                </a:lnTo>
                <a:cubicBezTo>
                  <a:pt x="6341745" y="1234788"/>
                  <a:pt x="6273513" y="1303020"/>
                  <a:pt x="6189344" y="1303020"/>
                </a:cubicBezTo>
                <a:lnTo>
                  <a:pt x="152401" y="1303020"/>
                </a:lnTo>
                <a:cubicBezTo>
                  <a:pt x="68289" y="1303020"/>
                  <a:pt x="0" y="1234731"/>
                  <a:pt x="0" y="11506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" y="322325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5333" y="337565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341120" y="3223259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Preparation Gap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41120" y="3566159"/>
            <a:ext cx="5229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Young people lack interview preparation support, leaving them unprepared for common questions and professional communication expectations.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4491992"/>
            <a:ext cx="6341745" cy="1979295"/>
          </a:xfrm>
          <a:custGeom>
            <a:avLst/>
            <a:gdLst/>
            <a:ahLst/>
            <a:cxnLst/>
            <a:rect l="l" t="t" r="r" b="b"/>
            <a:pathLst>
              <a:path w="6341745" h="1979295">
                <a:moveTo>
                  <a:pt x="152406" y="0"/>
                </a:moveTo>
                <a:lnTo>
                  <a:pt x="6189339" y="0"/>
                </a:lnTo>
                <a:cubicBezTo>
                  <a:pt x="6273454" y="0"/>
                  <a:pt x="6341745" y="68291"/>
                  <a:pt x="6341745" y="152406"/>
                </a:cubicBezTo>
                <a:lnTo>
                  <a:pt x="6341745" y="1826889"/>
                </a:lnTo>
                <a:cubicBezTo>
                  <a:pt x="6341745" y="1911004"/>
                  <a:pt x="6273454" y="1979295"/>
                  <a:pt x="6189339" y="1979295"/>
                </a:cubicBezTo>
                <a:lnTo>
                  <a:pt x="152406" y="1979295"/>
                </a:lnTo>
                <a:cubicBezTo>
                  <a:pt x="68291" y="1979295"/>
                  <a:pt x="0" y="1911004"/>
                  <a:pt x="0" y="182688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" y="4724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5333" y="4876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23753"/>
                </a:moveTo>
                <a:lnTo>
                  <a:pt x="68000" y="81617"/>
                </a:lnTo>
                <a:cubicBezTo>
                  <a:pt x="65946" y="83894"/>
                  <a:pt x="66035" y="87422"/>
                  <a:pt x="68223" y="89609"/>
                </a:cubicBezTo>
                <a:cubicBezTo>
                  <a:pt x="81841" y="103227"/>
                  <a:pt x="103942" y="103227"/>
                  <a:pt x="117559" y="89609"/>
                </a:cubicBezTo>
                <a:lnTo>
                  <a:pt x="131758" y="75411"/>
                </a:lnTo>
                <a:cubicBezTo>
                  <a:pt x="133633" y="73536"/>
                  <a:pt x="135999" y="72509"/>
                  <a:pt x="138410" y="72330"/>
                </a:cubicBezTo>
                <a:cubicBezTo>
                  <a:pt x="141446" y="72063"/>
                  <a:pt x="144572" y="73089"/>
                  <a:pt x="146893" y="75411"/>
                </a:cubicBezTo>
                <a:lnTo>
                  <a:pt x="225743" y="153591"/>
                </a:lnTo>
                <a:lnTo>
                  <a:pt x="257175" y="128588"/>
                </a:lnTo>
                <a:lnTo>
                  <a:pt x="257175" y="0"/>
                </a:lnTo>
                <a:lnTo>
                  <a:pt x="207169" y="28575"/>
                </a:lnTo>
                <a:lnTo>
                  <a:pt x="196542" y="21476"/>
                </a:lnTo>
                <a:cubicBezTo>
                  <a:pt x="189488" y="16788"/>
                  <a:pt x="181228" y="14288"/>
                  <a:pt x="172745" y="14288"/>
                </a:cubicBezTo>
                <a:lnTo>
                  <a:pt x="141312" y="14288"/>
                </a:lnTo>
                <a:cubicBezTo>
                  <a:pt x="140821" y="14288"/>
                  <a:pt x="140285" y="14288"/>
                  <a:pt x="139794" y="14332"/>
                </a:cubicBezTo>
                <a:cubicBezTo>
                  <a:pt x="132249" y="14734"/>
                  <a:pt x="125150" y="18127"/>
                  <a:pt x="120060" y="23753"/>
                </a:cubicBezTo>
                <a:close/>
                <a:moveTo>
                  <a:pt x="52060" y="67285"/>
                </a:moveTo>
                <a:lnTo>
                  <a:pt x="99745" y="14288"/>
                </a:lnTo>
                <a:lnTo>
                  <a:pt x="82064" y="14288"/>
                </a:lnTo>
                <a:cubicBezTo>
                  <a:pt x="70678" y="14288"/>
                  <a:pt x="59784" y="18797"/>
                  <a:pt x="51748" y="26834"/>
                </a:cubicBezTo>
                <a:lnTo>
                  <a:pt x="0" y="85725"/>
                </a:lnTo>
                <a:lnTo>
                  <a:pt x="0" y="242888"/>
                </a:lnTo>
                <a:lnTo>
                  <a:pt x="64294" y="182166"/>
                </a:lnTo>
                <a:lnTo>
                  <a:pt x="69830" y="186764"/>
                </a:lnTo>
                <a:cubicBezTo>
                  <a:pt x="80099" y="195337"/>
                  <a:pt x="93047" y="200025"/>
                  <a:pt x="106397" y="200025"/>
                </a:cubicBezTo>
                <a:lnTo>
                  <a:pt x="113407" y="200025"/>
                </a:lnTo>
                <a:lnTo>
                  <a:pt x="110282" y="196900"/>
                </a:lnTo>
                <a:cubicBezTo>
                  <a:pt x="106085" y="192703"/>
                  <a:pt x="106085" y="185916"/>
                  <a:pt x="110282" y="181764"/>
                </a:cubicBezTo>
                <a:cubicBezTo>
                  <a:pt x="114479" y="177611"/>
                  <a:pt x="121265" y="177567"/>
                  <a:pt x="125417" y="181764"/>
                </a:cubicBezTo>
                <a:lnTo>
                  <a:pt x="143723" y="200070"/>
                </a:lnTo>
                <a:lnTo>
                  <a:pt x="147742" y="200070"/>
                </a:lnTo>
                <a:cubicBezTo>
                  <a:pt x="156270" y="200070"/>
                  <a:pt x="164619" y="198150"/>
                  <a:pt x="172209" y="194578"/>
                </a:cubicBezTo>
                <a:lnTo>
                  <a:pt x="160288" y="182612"/>
                </a:lnTo>
                <a:cubicBezTo>
                  <a:pt x="156091" y="178415"/>
                  <a:pt x="156091" y="171629"/>
                  <a:pt x="160288" y="167476"/>
                </a:cubicBezTo>
                <a:cubicBezTo>
                  <a:pt x="164485" y="163324"/>
                  <a:pt x="171271" y="163279"/>
                  <a:pt x="175424" y="167476"/>
                </a:cubicBezTo>
                <a:lnTo>
                  <a:pt x="189711" y="181764"/>
                </a:lnTo>
                <a:lnTo>
                  <a:pt x="197525" y="173950"/>
                </a:lnTo>
                <a:cubicBezTo>
                  <a:pt x="201498" y="169977"/>
                  <a:pt x="202659" y="164217"/>
                  <a:pt x="200918" y="159172"/>
                </a:cubicBezTo>
                <a:lnTo>
                  <a:pt x="139348" y="98093"/>
                </a:lnTo>
                <a:lnTo>
                  <a:pt x="132695" y="104745"/>
                </a:lnTo>
                <a:cubicBezTo>
                  <a:pt x="110683" y="126757"/>
                  <a:pt x="75054" y="126757"/>
                  <a:pt x="53042" y="104745"/>
                </a:cubicBezTo>
                <a:cubicBezTo>
                  <a:pt x="42773" y="94476"/>
                  <a:pt x="42371" y="78001"/>
                  <a:pt x="52060" y="672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341120" y="4724400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for Practical Support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1120" y="5067300"/>
            <a:ext cx="5229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is a critical need for a practical and accessible support system that guides youth through every step of the job application process.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59322" y="1489710"/>
            <a:ext cx="4846320" cy="4979670"/>
          </a:xfrm>
          <a:custGeom>
            <a:avLst/>
            <a:gdLst/>
            <a:ahLst/>
            <a:cxnLst/>
            <a:rect l="l" t="t" r="r" b="b"/>
            <a:pathLst>
              <a:path w="4846320" h="4979670">
                <a:moveTo>
                  <a:pt x="152417" y="0"/>
                </a:moveTo>
                <a:lnTo>
                  <a:pt x="4693903" y="0"/>
                </a:lnTo>
                <a:cubicBezTo>
                  <a:pt x="4778081" y="0"/>
                  <a:pt x="4846320" y="68239"/>
                  <a:pt x="4846320" y="152417"/>
                </a:cubicBezTo>
                <a:lnTo>
                  <a:pt x="4846320" y="4827253"/>
                </a:lnTo>
                <a:cubicBezTo>
                  <a:pt x="4846320" y="4911431"/>
                  <a:pt x="4778081" y="4979670"/>
                  <a:pt x="4693903" y="4979670"/>
                </a:cubicBezTo>
                <a:lnTo>
                  <a:pt x="152417" y="4979670"/>
                </a:lnTo>
                <a:cubicBezTo>
                  <a:pt x="68239" y="4979670"/>
                  <a:pt x="0" y="4911431"/>
                  <a:pt x="0" y="4827253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33616" y="1850233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450533" y="0"/>
                </a:moveTo>
                <a:lnTo>
                  <a:pt x="450533" y="0"/>
                </a:lnTo>
                <a:cubicBezTo>
                  <a:pt x="699355" y="0"/>
                  <a:pt x="901065" y="201710"/>
                  <a:pt x="901065" y="450532"/>
                </a:cubicBezTo>
                <a:lnTo>
                  <a:pt x="901065" y="450533"/>
                </a:lnTo>
                <a:cubicBezTo>
                  <a:pt x="901065" y="699355"/>
                  <a:pt x="699355" y="901065"/>
                  <a:pt x="450533" y="901065"/>
                </a:cubicBezTo>
                <a:lnTo>
                  <a:pt x="450533" y="901065"/>
                </a:lnTo>
                <a:cubicBezTo>
                  <a:pt x="201710" y="901065"/>
                  <a:pt x="0" y="699355"/>
                  <a:pt x="0" y="450533"/>
                </a:cubicBezTo>
                <a:lnTo>
                  <a:pt x="0" y="450533"/>
                </a:lnTo>
                <a:cubicBezTo>
                  <a:pt x="0" y="201710"/>
                  <a:pt x="201710" y="0"/>
                  <a:pt x="45053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2032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11746" y="2071213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7196495" y="2985613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Critical Gap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71743" y="3789523"/>
            <a:ext cx="4227195" cy="1836420"/>
          </a:xfrm>
          <a:custGeom>
            <a:avLst/>
            <a:gdLst/>
            <a:ahLst/>
            <a:cxnLst/>
            <a:rect l="l" t="t" r="r" b="b"/>
            <a:pathLst>
              <a:path w="4227195" h="1836420">
                <a:moveTo>
                  <a:pt x="114299" y="0"/>
                </a:moveTo>
                <a:lnTo>
                  <a:pt x="4112896" y="0"/>
                </a:lnTo>
                <a:cubicBezTo>
                  <a:pt x="4176022" y="0"/>
                  <a:pt x="4227195" y="51173"/>
                  <a:pt x="4227195" y="114299"/>
                </a:cubicBezTo>
                <a:lnTo>
                  <a:pt x="4227195" y="1722121"/>
                </a:lnTo>
                <a:cubicBezTo>
                  <a:pt x="4227195" y="1785247"/>
                  <a:pt x="4176022" y="1836420"/>
                  <a:pt x="4112896" y="1836420"/>
                </a:cubicBezTo>
                <a:lnTo>
                  <a:pt x="114299" y="1836420"/>
                </a:lnTo>
                <a:cubicBezTo>
                  <a:pt x="51173" y="1836420"/>
                  <a:pt x="0" y="1785247"/>
                  <a:pt x="0" y="17221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6527" y="4021931"/>
            <a:ext cx="38576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Having Skills 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EFEF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!=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 Job Applications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04152" y="4483894"/>
            <a:ext cx="3762375" cy="9525"/>
          </a:xfrm>
          <a:custGeom>
            <a:avLst/>
            <a:gdLst/>
            <a:ahLst/>
            <a:cxnLst/>
            <a:rect l="l" t="t" r="r" b="b"/>
            <a:pathLst>
              <a:path w="3762375" h="9525">
                <a:moveTo>
                  <a:pt x="0" y="0"/>
                </a:moveTo>
                <a:lnTo>
                  <a:pt x="3762375" y="0"/>
                </a:lnTo>
                <a:lnTo>
                  <a:pt x="3762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7466052" y="4645819"/>
            <a:ext cx="3838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bridge between capability and employment is broken. We need to fix the application process, not just train skills.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71284" y="581549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8714184" y="5853592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Required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223659" y="581549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ahadgroup.com/2e3c912aa4772e6dd8f0976cfd8022bb79296eb2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381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Proposed Solution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AI-powered mobile career support application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1832610"/>
            <a:ext cx="6436995" cy="4636770"/>
          </a:xfrm>
          <a:custGeom>
            <a:avLst/>
            <a:gdLst/>
            <a:ahLst/>
            <a:cxnLst/>
            <a:rect l="l" t="t" r="r" b="b"/>
            <a:pathLst>
              <a:path w="6436995" h="4636770">
                <a:moveTo>
                  <a:pt x="152411" y="0"/>
                </a:moveTo>
                <a:lnTo>
                  <a:pt x="6284584" y="0"/>
                </a:lnTo>
                <a:cubicBezTo>
                  <a:pt x="6368758" y="0"/>
                  <a:pt x="6436995" y="68237"/>
                  <a:pt x="6436995" y="152411"/>
                </a:cubicBezTo>
                <a:lnTo>
                  <a:pt x="6436995" y="4484359"/>
                </a:lnTo>
                <a:cubicBezTo>
                  <a:pt x="6436995" y="4568533"/>
                  <a:pt x="6368758" y="4636770"/>
                  <a:pt x="6284584" y="4636770"/>
                </a:cubicBezTo>
                <a:lnTo>
                  <a:pt x="152411" y="4636770"/>
                </a:lnTo>
                <a:cubicBezTo>
                  <a:pt x="68237" y="4636770"/>
                  <a:pt x="0" y="4568533"/>
                  <a:pt x="0" y="4484359"/>
                </a:cubicBezTo>
                <a:lnTo>
                  <a:pt x="0" y="152411"/>
                </a:lnTo>
                <a:cubicBezTo>
                  <a:pt x="0" y="68237"/>
                  <a:pt x="68237" y="0"/>
                  <a:pt x="152411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1040" y="2179320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52398" y="0"/>
                </a:moveTo>
                <a:lnTo>
                  <a:pt x="596267" y="0"/>
                </a:lnTo>
                <a:cubicBezTo>
                  <a:pt x="680378" y="0"/>
                  <a:pt x="748665" y="68287"/>
                  <a:pt x="748665" y="152398"/>
                </a:cubicBezTo>
                <a:lnTo>
                  <a:pt x="748665" y="596267"/>
                </a:lnTo>
                <a:cubicBezTo>
                  <a:pt x="748665" y="680378"/>
                  <a:pt x="680378" y="748665"/>
                  <a:pt x="596267" y="748665"/>
                </a:cubicBezTo>
                <a:lnTo>
                  <a:pt x="152398" y="748665"/>
                </a:lnTo>
                <a:cubicBezTo>
                  <a:pt x="68287" y="748665"/>
                  <a:pt x="0" y="680378"/>
                  <a:pt x="0" y="59626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2032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5833" y="23812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0716" y="42863"/>
                </a:moveTo>
                <a:cubicBezTo>
                  <a:pt x="10716" y="19221"/>
                  <a:pt x="29937" y="0"/>
                  <a:pt x="53578" y="0"/>
                </a:cubicBezTo>
                <a:lnTo>
                  <a:pt x="203597" y="0"/>
                </a:lnTo>
                <a:cubicBezTo>
                  <a:pt x="227238" y="0"/>
                  <a:pt x="246459" y="19221"/>
                  <a:pt x="246459" y="42863"/>
                </a:cubicBezTo>
                <a:lnTo>
                  <a:pt x="246459" y="300038"/>
                </a:lnTo>
                <a:cubicBezTo>
                  <a:pt x="246459" y="323679"/>
                  <a:pt x="227238" y="342900"/>
                  <a:pt x="203597" y="342900"/>
                </a:cubicBezTo>
                <a:lnTo>
                  <a:pt x="53578" y="342900"/>
                </a:lnTo>
                <a:cubicBezTo>
                  <a:pt x="29937" y="342900"/>
                  <a:pt x="10716" y="323679"/>
                  <a:pt x="10716" y="300038"/>
                </a:cubicBezTo>
                <a:lnTo>
                  <a:pt x="10716" y="42863"/>
                </a:lnTo>
                <a:close/>
                <a:moveTo>
                  <a:pt x="53578" y="42863"/>
                </a:moveTo>
                <a:lnTo>
                  <a:pt x="53578" y="246459"/>
                </a:lnTo>
                <a:lnTo>
                  <a:pt x="203597" y="246459"/>
                </a:lnTo>
                <a:lnTo>
                  <a:pt x="203597" y="42863"/>
                </a:lnTo>
                <a:lnTo>
                  <a:pt x="53578" y="42863"/>
                </a:lnTo>
                <a:close/>
                <a:moveTo>
                  <a:pt x="128588" y="316111"/>
                </a:moveTo>
                <a:cubicBezTo>
                  <a:pt x="140442" y="316111"/>
                  <a:pt x="150019" y="306534"/>
                  <a:pt x="150019" y="294680"/>
                </a:cubicBezTo>
                <a:cubicBezTo>
                  <a:pt x="150019" y="282826"/>
                  <a:pt x="140442" y="273248"/>
                  <a:pt x="128588" y="273248"/>
                </a:cubicBezTo>
                <a:cubicBezTo>
                  <a:pt x="116733" y="273248"/>
                  <a:pt x="107156" y="282826"/>
                  <a:pt x="107156" y="294680"/>
                </a:cubicBezTo>
                <a:cubicBezTo>
                  <a:pt x="107156" y="306534"/>
                  <a:pt x="116733" y="316111"/>
                  <a:pt x="128588" y="31611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0" y="220980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NexTech Career App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45920" y="2628900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Mobile Solution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9342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26770" y="3371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303020" y="3238500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Intelligence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03020" y="3581400"/>
            <a:ext cx="5286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Leverages artificial intelligence to provide personalized guidance and support throughout the job application journey.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3420" y="426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38676" y="4400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37443" y="47625"/>
                </a:moveTo>
                <a:lnTo>
                  <a:pt x="124681" y="29766"/>
                </a:lnTo>
                <a:lnTo>
                  <a:pt x="42044" y="29766"/>
                </a:lnTo>
                <a:lnTo>
                  <a:pt x="29282" y="47625"/>
                </a:lnTo>
                <a:lnTo>
                  <a:pt x="137443" y="47625"/>
                </a:lnTo>
                <a:close/>
                <a:moveTo>
                  <a:pt x="0" y="55252"/>
                </a:moveTo>
                <a:cubicBezTo>
                  <a:pt x="0" y="50304"/>
                  <a:pt x="1563" y="45467"/>
                  <a:pt x="4428" y="41411"/>
                </a:cubicBezTo>
                <a:lnTo>
                  <a:pt x="22659" y="15925"/>
                </a:lnTo>
                <a:cubicBezTo>
                  <a:pt x="27124" y="9674"/>
                  <a:pt x="34342" y="5953"/>
                  <a:pt x="42007" y="5953"/>
                </a:cubicBezTo>
                <a:lnTo>
                  <a:pt x="124644" y="5953"/>
                </a:lnTo>
                <a:cubicBezTo>
                  <a:pt x="132345" y="5953"/>
                  <a:pt x="139564" y="9674"/>
                  <a:pt x="144028" y="15925"/>
                </a:cubicBezTo>
                <a:lnTo>
                  <a:pt x="162223" y="41411"/>
                </a:lnTo>
                <a:cubicBezTo>
                  <a:pt x="165125" y="45467"/>
                  <a:pt x="166650" y="50304"/>
                  <a:pt x="166650" y="55252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525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1303020" y="4267200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All-in-One Platform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03020" y="4610100"/>
            <a:ext cx="5286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all essential job application tools in one place, eliminating the need to navigate multiple platforms.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93420" y="529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14864" y="5429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47625"/>
                </a:moveTo>
                <a:cubicBezTo>
                  <a:pt x="23812" y="24626"/>
                  <a:pt x="42485" y="5953"/>
                  <a:pt x="65484" y="5953"/>
                </a:cubicBezTo>
                <a:cubicBezTo>
                  <a:pt x="88484" y="5953"/>
                  <a:pt x="107156" y="24626"/>
                  <a:pt x="107156" y="47625"/>
                </a:cubicBezTo>
                <a:cubicBezTo>
                  <a:pt x="107156" y="70624"/>
                  <a:pt x="88484" y="89297"/>
                  <a:pt x="65484" y="89297"/>
                </a:cubicBezTo>
                <a:cubicBezTo>
                  <a:pt x="42485" y="89297"/>
                  <a:pt x="23813" y="70624"/>
                  <a:pt x="23812" y="47625"/>
                </a:cubicBezTo>
                <a:close/>
                <a:moveTo>
                  <a:pt x="0" y="172641"/>
                </a:moveTo>
                <a:cubicBezTo>
                  <a:pt x="0" y="136475"/>
                  <a:pt x="29319" y="107156"/>
                  <a:pt x="65484" y="107156"/>
                </a:cubicBezTo>
                <a:cubicBezTo>
                  <a:pt x="101650" y="107156"/>
                  <a:pt x="130969" y="136475"/>
                  <a:pt x="130969" y="172641"/>
                </a:cubicBezTo>
                <a:lnTo>
                  <a:pt x="130969" y="174873"/>
                </a:lnTo>
                <a:cubicBezTo>
                  <a:pt x="130969" y="183505"/>
                  <a:pt x="123974" y="190500"/>
                  <a:pt x="115342" y="190500"/>
                </a:cubicBezTo>
                <a:lnTo>
                  <a:pt x="15627" y="190500"/>
                </a:lnTo>
                <a:cubicBezTo>
                  <a:pt x="6995" y="190500"/>
                  <a:pt x="0" y="183505"/>
                  <a:pt x="0" y="174873"/>
                </a:cubicBezTo>
                <a:lnTo>
                  <a:pt x="0" y="172641"/>
                </a:lnTo>
                <a:close/>
                <a:moveTo>
                  <a:pt x="160734" y="23812"/>
                </a:moveTo>
                <a:cubicBezTo>
                  <a:pt x="180448" y="23812"/>
                  <a:pt x="196453" y="39818"/>
                  <a:pt x="196453" y="59531"/>
                </a:cubicBezTo>
                <a:cubicBezTo>
                  <a:pt x="196453" y="79245"/>
                  <a:pt x="180448" y="95250"/>
                  <a:pt x="160734" y="95250"/>
                </a:cubicBezTo>
                <a:cubicBezTo>
                  <a:pt x="141021" y="95250"/>
                  <a:pt x="125016" y="79245"/>
                  <a:pt x="125016" y="59531"/>
                </a:cubicBezTo>
                <a:cubicBezTo>
                  <a:pt x="125016" y="39818"/>
                  <a:pt x="141021" y="23813"/>
                  <a:pt x="160734" y="23812"/>
                </a:cubicBezTo>
                <a:close/>
                <a:moveTo>
                  <a:pt x="160734" y="113109"/>
                </a:moveTo>
                <a:cubicBezTo>
                  <a:pt x="190314" y="113109"/>
                  <a:pt x="214313" y="137108"/>
                  <a:pt x="214313" y="166688"/>
                </a:cubicBezTo>
                <a:lnTo>
                  <a:pt x="214313" y="175022"/>
                </a:lnTo>
                <a:cubicBezTo>
                  <a:pt x="214313" y="183579"/>
                  <a:pt x="207392" y="190500"/>
                  <a:pt x="198834" y="190500"/>
                </a:cubicBezTo>
                <a:lnTo>
                  <a:pt x="144959" y="190500"/>
                </a:lnTo>
                <a:cubicBezTo>
                  <a:pt x="147414" y="185849"/>
                  <a:pt x="148828" y="180529"/>
                  <a:pt x="148828" y="174873"/>
                </a:cubicBezTo>
                <a:lnTo>
                  <a:pt x="148828" y="172641"/>
                </a:lnTo>
                <a:cubicBezTo>
                  <a:pt x="148828" y="153479"/>
                  <a:pt x="142354" y="135843"/>
                  <a:pt x="131527" y="121779"/>
                </a:cubicBezTo>
                <a:cubicBezTo>
                  <a:pt x="139936" y="116309"/>
                  <a:pt x="149982" y="113109"/>
                  <a:pt x="160734" y="1131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1303020" y="5295900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Youth-Centric Design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03020" y="5638800"/>
            <a:ext cx="5286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specifically for young job seekers, with mobile-first approach and data-conscious features.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055406" y="1832610"/>
            <a:ext cx="4751070" cy="2217420"/>
          </a:xfrm>
          <a:custGeom>
            <a:avLst/>
            <a:gdLst/>
            <a:ahLst/>
            <a:cxnLst/>
            <a:rect l="l" t="t" r="r" b="b"/>
            <a:pathLst>
              <a:path w="4751070" h="2217420">
                <a:moveTo>
                  <a:pt x="152403" y="0"/>
                </a:moveTo>
                <a:lnTo>
                  <a:pt x="4598667" y="0"/>
                </a:lnTo>
                <a:cubicBezTo>
                  <a:pt x="4682837" y="0"/>
                  <a:pt x="4751070" y="68233"/>
                  <a:pt x="4751070" y="152403"/>
                </a:cubicBezTo>
                <a:lnTo>
                  <a:pt x="4751070" y="2065017"/>
                </a:lnTo>
                <a:cubicBezTo>
                  <a:pt x="4751070" y="2149187"/>
                  <a:pt x="4682837" y="2217420"/>
                  <a:pt x="4598667" y="2217420"/>
                </a:cubicBezTo>
                <a:lnTo>
                  <a:pt x="152403" y="2217420"/>
                </a:lnTo>
                <a:cubicBezTo>
                  <a:pt x="68233" y="2217420"/>
                  <a:pt x="0" y="2149187"/>
                  <a:pt x="0" y="20650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26498" y="20859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9290804" y="22479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5"/>
          <p:cNvSpPr/>
          <p:nvPr/>
        </p:nvSpPr>
        <p:spPr>
          <a:xfrm>
            <a:off x="7230666" y="2847975"/>
            <a:ext cx="4400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244953" y="3266959"/>
            <a:ext cx="43719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Young job seekers aged 15-34 who need practical support navigating the job application process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055406" y="4251960"/>
            <a:ext cx="4751070" cy="2217420"/>
          </a:xfrm>
          <a:custGeom>
            <a:avLst/>
            <a:gdLst/>
            <a:ahLst/>
            <a:cxnLst/>
            <a:rect l="l" t="t" r="r" b="b"/>
            <a:pathLst>
              <a:path w="4751070" h="2217420">
                <a:moveTo>
                  <a:pt x="152403" y="0"/>
                </a:moveTo>
                <a:lnTo>
                  <a:pt x="4598667" y="0"/>
                </a:lnTo>
                <a:cubicBezTo>
                  <a:pt x="4682837" y="0"/>
                  <a:pt x="4751070" y="68233"/>
                  <a:pt x="4751070" y="152403"/>
                </a:cubicBezTo>
                <a:lnTo>
                  <a:pt x="4751070" y="2065017"/>
                </a:lnTo>
                <a:cubicBezTo>
                  <a:pt x="4751070" y="2149187"/>
                  <a:pt x="4682837" y="2217420"/>
                  <a:pt x="4598667" y="2217420"/>
                </a:cubicBezTo>
                <a:lnTo>
                  <a:pt x="152403" y="2217420"/>
                </a:lnTo>
                <a:cubicBezTo>
                  <a:pt x="68233" y="2217420"/>
                  <a:pt x="0" y="2149187"/>
                  <a:pt x="0" y="20650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26498" y="4505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290804" y="4667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7230666" y="5267325"/>
            <a:ext cx="4400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Value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44953" y="5686309"/>
            <a:ext cx="43719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job seekers from qualified candidates to successful applicants through guided 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powerful tools to transform job applications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832610"/>
            <a:ext cx="3646170" cy="3750945"/>
          </a:xfrm>
          <a:custGeom>
            <a:avLst/>
            <a:gdLst/>
            <a:ahLst/>
            <a:cxnLst/>
            <a:rect l="l" t="t" r="r" b="b"/>
            <a:pathLst>
              <a:path w="3646170" h="3750945">
                <a:moveTo>
                  <a:pt x="152410" y="0"/>
                </a:moveTo>
                <a:lnTo>
                  <a:pt x="3493760" y="0"/>
                </a:lnTo>
                <a:cubicBezTo>
                  <a:pt x="3577934" y="0"/>
                  <a:pt x="3646170" y="68236"/>
                  <a:pt x="3646170" y="152410"/>
                </a:cubicBezTo>
                <a:lnTo>
                  <a:pt x="3646170" y="3598535"/>
                </a:lnTo>
                <a:cubicBezTo>
                  <a:pt x="3646170" y="3682709"/>
                  <a:pt x="3577934" y="3750945"/>
                  <a:pt x="3493760" y="3750945"/>
                </a:cubicBezTo>
                <a:lnTo>
                  <a:pt x="152410" y="3750945"/>
                </a:lnTo>
                <a:cubicBezTo>
                  <a:pt x="68236" y="3750945"/>
                  <a:pt x="0" y="3682709"/>
                  <a:pt x="0" y="359853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20650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7245" y="222694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66973" y="142875"/>
                </a:moveTo>
                <a:cubicBezTo>
                  <a:pt x="59550" y="142875"/>
                  <a:pt x="53578" y="148847"/>
                  <a:pt x="53578" y="156270"/>
                </a:cubicBezTo>
                <a:cubicBezTo>
                  <a:pt x="53578" y="163692"/>
                  <a:pt x="59550" y="169664"/>
                  <a:pt x="66973" y="169664"/>
                </a:cubicBezTo>
                <a:lnTo>
                  <a:pt x="147340" y="169664"/>
                </a:lnTo>
                <a:cubicBezTo>
                  <a:pt x="154763" y="169664"/>
                  <a:pt x="160734" y="163692"/>
                  <a:pt x="160734" y="156270"/>
                </a:cubicBezTo>
                <a:cubicBezTo>
                  <a:pt x="160734" y="148847"/>
                  <a:pt x="154763" y="142875"/>
                  <a:pt x="147340" y="142875"/>
                </a:cubicBezTo>
                <a:lnTo>
                  <a:pt x="66973" y="142875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47340" y="223242"/>
                </a:lnTo>
                <a:cubicBezTo>
                  <a:pt x="154763" y="223242"/>
                  <a:pt x="160734" y="217270"/>
                  <a:pt x="160734" y="209848"/>
                </a:cubicBezTo>
                <a:cubicBezTo>
                  <a:pt x="160734" y="202425"/>
                  <a:pt x="154763" y="196453"/>
                  <a:pt x="147340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1379220" y="2179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336358" y="217932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" y="2865123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Resume Builder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" y="3284102"/>
            <a:ext cx="325755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Guides users in creating industry-ready CVs that are optimized for Applicant Tracking Systems (ATS) and catch recruiters' attention.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5795" y="45681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22020" y="4549141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ATS-optimized formatting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5795" y="48729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22020" y="4853941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Industry-specific templates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5795" y="51777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922020" y="5158741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suggestions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71010" y="1832610"/>
            <a:ext cx="3646170" cy="3750945"/>
          </a:xfrm>
          <a:custGeom>
            <a:avLst/>
            <a:gdLst/>
            <a:ahLst/>
            <a:cxnLst/>
            <a:rect l="l" t="t" r="r" b="b"/>
            <a:pathLst>
              <a:path w="3646170" h="3750945">
                <a:moveTo>
                  <a:pt x="152410" y="0"/>
                </a:moveTo>
                <a:lnTo>
                  <a:pt x="3493760" y="0"/>
                </a:lnTo>
                <a:cubicBezTo>
                  <a:pt x="3577934" y="0"/>
                  <a:pt x="3646170" y="68236"/>
                  <a:pt x="3646170" y="152410"/>
                </a:cubicBezTo>
                <a:lnTo>
                  <a:pt x="3646170" y="3598535"/>
                </a:lnTo>
                <a:cubicBezTo>
                  <a:pt x="3646170" y="3682709"/>
                  <a:pt x="3577934" y="3750945"/>
                  <a:pt x="3493760" y="3750945"/>
                </a:cubicBezTo>
                <a:lnTo>
                  <a:pt x="152410" y="3750945"/>
                </a:lnTo>
                <a:cubicBezTo>
                  <a:pt x="68236" y="3750945"/>
                  <a:pt x="0" y="3682709"/>
                  <a:pt x="0" y="359853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3420" y="20650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67726" y="22269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5420" y="2179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5222557" y="217932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03420" y="2865123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Cover Letter Generator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03420" y="3284102"/>
            <a:ext cx="325755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tailored cover letters that align with job requirements and highlight the user's unique strengths and qualifications.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31995" y="45681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4808220" y="4549141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Job-specific customization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31995" y="48729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4808220" y="4853941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Strengths highlighting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31995" y="51777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4808220" y="5158741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tone matching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57210" y="1832610"/>
            <a:ext cx="3646170" cy="3750945"/>
          </a:xfrm>
          <a:custGeom>
            <a:avLst/>
            <a:gdLst/>
            <a:ahLst/>
            <a:cxnLst/>
            <a:rect l="l" t="t" r="r" b="b"/>
            <a:pathLst>
              <a:path w="3646170" h="3750945">
                <a:moveTo>
                  <a:pt x="152410" y="0"/>
                </a:moveTo>
                <a:lnTo>
                  <a:pt x="3493760" y="0"/>
                </a:lnTo>
                <a:cubicBezTo>
                  <a:pt x="3577934" y="0"/>
                  <a:pt x="3646170" y="68236"/>
                  <a:pt x="3646170" y="152410"/>
                </a:cubicBezTo>
                <a:lnTo>
                  <a:pt x="3646170" y="3598535"/>
                </a:lnTo>
                <a:cubicBezTo>
                  <a:pt x="3646170" y="3682709"/>
                  <a:pt x="3577934" y="3750945"/>
                  <a:pt x="3493760" y="3750945"/>
                </a:cubicBezTo>
                <a:lnTo>
                  <a:pt x="152410" y="3750945"/>
                </a:lnTo>
                <a:cubicBezTo>
                  <a:pt x="68236" y="3750945"/>
                  <a:pt x="0" y="3682709"/>
                  <a:pt x="0" y="359853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89620" y="20650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71786" y="222694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88052" y="138410"/>
                  <a:pt x="58043" y="108401"/>
                  <a:pt x="58043" y="71438"/>
                </a:cubicBezTo>
                <a:cubicBezTo>
                  <a:pt x="58043" y="34474"/>
                  <a:pt x="88052" y="4465"/>
                  <a:pt x="125016" y="4465"/>
                </a:cubicBezTo>
                <a:cubicBezTo>
                  <a:pt x="161979" y="4465"/>
                  <a:pt x="191988" y="34474"/>
                  <a:pt x="191988" y="71437"/>
                </a:cubicBezTo>
                <a:cubicBezTo>
                  <a:pt x="191988" y="108401"/>
                  <a:pt x="161979" y="138410"/>
                  <a:pt x="125016" y="138410"/>
                </a:cubicBezTo>
                <a:close/>
                <a:moveTo>
                  <a:pt x="107993" y="169664"/>
                </a:moveTo>
                <a:lnTo>
                  <a:pt x="142038" y="169664"/>
                </a:lnTo>
                <a:cubicBezTo>
                  <a:pt x="147451" y="169664"/>
                  <a:pt x="151805" y="174017"/>
                  <a:pt x="151805" y="179431"/>
                </a:cubicBezTo>
                <a:cubicBezTo>
                  <a:pt x="151805" y="181775"/>
                  <a:pt x="150968" y="184007"/>
                  <a:pt x="149461" y="185793"/>
                </a:cubicBezTo>
                <a:lnTo>
                  <a:pt x="134169" y="203653"/>
                </a:lnTo>
                <a:lnTo>
                  <a:pt x="151470" y="267891"/>
                </a:lnTo>
                <a:lnTo>
                  <a:pt x="151805" y="267891"/>
                </a:lnTo>
                <a:lnTo>
                  <a:pt x="171115" y="190593"/>
                </a:lnTo>
                <a:cubicBezTo>
                  <a:pt x="172343" y="185738"/>
                  <a:pt x="177310" y="182780"/>
                  <a:pt x="181998" y="184565"/>
                </a:cubicBezTo>
                <a:cubicBezTo>
                  <a:pt x="216545" y="197737"/>
                  <a:pt x="241102" y="231223"/>
                  <a:pt x="241102" y="270402"/>
                </a:cubicBezTo>
                <a:cubicBezTo>
                  <a:pt x="241102" y="278829"/>
                  <a:pt x="234237" y="285694"/>
                  <a:pt x="225809" y="285694"/>
                </a:cubicBezTo>
                <a:lnTo>
                  <a:pt x="24222" y="285750"/>
                </a:lnTo>
                <a:cubicBezTo>
                  <a:pt x="15794" y="285750"/>
                  <a:pt x="8930" y="278885"/>
                  <a:pt x="8930" y="270458"/>
                </a:cubicBezTo>
                <a:cubicBezTo>
                  <a:pt x="8930" y="231279"/>
                  <a:pt x="33486" y="197793"/>
                  <a:pt x="68033" y="184621"/>
                </a:cubicBezTo>
                <a:cubicBezTo>
                  <a:pt x="72721" y="182835"/>
                  <a:pt x="77688" y="185793"/>
                  <a:pt x="78916" y="190649"/>
                </a:cubicBezTo>
                <a:lnTo>
                  <a:pt x="98227" y="267946"/>
                </a:lnTo>
                <a:lnTo>
                  <a:pt x="98561" y="267946"/>
                </a:lnTo>
                <a:lnTo>
                  <a:pt x="115863" y="203708"/>
                </a:lnTo>
                <a:lnTo>
                  <a:pt x="100571" y="185849"/>
                </a:lnTo>
                <a:cubicBezTo>
                  <a:pt x="99064" y="184063"/>
                  <a:pt x="98227" y="181831"/>
                  <a:pt x="98227" y="179487"/>
                </a:cubicBezTo>
                <a:cubicBezTo>
                  <a:pt x="98227" y="174073"/>
                  <a:pt x="102580" y="169720"/>
                  <a:pt x="107993" y="1697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Shape 33"/>
          <p:cNvSpPr/>
          <p:nvPr/>
        </p:nvSpPr>
        <p:spPr>
          <a:xfrm>
            <a:off x="9151620" y="2179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9108757" y="217932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9620" y="2865123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Interview Coach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89620" y="3284102"/>
            <a:ext cx="325755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Simulates real-life interviews for practice, providing feedback on responses, body language, and communication skills.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18195" y="45681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8694420" y="4549141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Realistic simulations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18195" y="48729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8694420" y="4853941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feedback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18195" y="51777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8694420" y="5158741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Industry-specific questions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4810" y="5779769"/>
            <a:ext cx="11418570" cy="693420"/>
          </a:xfrm>
          <a:custGeom>
            <a:avLst/>
            <a:gdLst/>
            <a:ahLst/>
            <a:cxnLst/>
            <a:rect l="l" t="t" r="r" b="b"/>
            <a:pathLst>
              <a:path w="11418570" h="693420">
                <a:moveTo>
                  <a:pt x="152400" y="0"/>
                </a:moveTo>
                <a:lnTo>
                  <a:pt x="11266170" y="0"/>
                </a:lnTo>
                <a:cubicBezTo>
                  <a:pt x="11350338" y="0"/>
                  <a:pt x="11418570" y="68232"/>
                  <a:pt x="11418570" y="152400"/>
                </a:cubicBezTo>
                <a:lnTo>
                  <a:pt x="11418570" y="541020"/>
                </a:lnTo>
                <a:cubicBezTo>
                  <a:pt x="11418570" y="625188"/>
                  <a:pt x="11350338" y="693420"/>
                  <a:pt x="11266170" y="693420"/>
                </a:cubicBezTo>
                <a:lnTo>
                  <a:pt x="152400" y="693420"/>
                </a:lnTo>
                <a:cubicBezTo>
                  <a:pt x="68288" y="693420"/>
                  <a:pt x="0" y="625132"/>
                  <a:pt x="0" y="5410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85480" y="601218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3228380" y="6012182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Mobile-First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57449" y="5974082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49" name="Shape 47"/>
          <p:cNvSpPr/>
          <p:nvPr/>
        </p:nvSpPr>
        <p:spPr>
          <a:xfrm>
            <a:off x="4686062" y="601218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42863"/>
                </a:moveTo>
                <a:cubicBezTo>
                  <a:pt x="88002" y="42863"/>
                  <a:pt x="51256" y="58936"/>
                  <a:pt x="24244" y="85100"/>
                </a:cubicBezTo>
                <a:cubicBezTo>
                  <a:pt x="18574" y="90592"/>
                  <a:pt x="9510" y="90458"/>
                  <a:pt x="4063" y="84787"/>
                </a:cubicBezTo>
                <a:cubicBezTo>
                  <a:pt x="-1384" y="79117"/>
                  <a:pt x="-1295" y="70053"/>
                  <a:pt x="4376" y="64606"/>
                </a:cubicBezTo>
                <a:cubicBezTo>
                  <a:pt x="36478" y="33442"/>
                  <a:pt x="80323" y="14288"/>
                  <a:pt x="128588" y="14288"/>
                </a:cubicBezTo>
                <a:cubicBezTo>
                  <a:pt x="176852" y="14288"/>
                  <a:pt x="220697" y="33442"/>
                  <a:pt x="252844" y="64606"/>
                </a:cubicBezTo>
                <a:cubicBezTo>
                  <a:pt x="258514" y="70098"/>
                  <a:pt x="258648" y="79162"/>
                  <a:pt x="253157" y="84787"/>
                </a:cubicBezTo>
                <a:cubicBezTo>
                  <a:pt x="247665" y="90413"/>
                  <a:pt x="238601" y="90592"/>
                  <a:pt x="232976" y="85100"/>
                </a:cubicBezTo>
                <a:cubicBezTo>
                  <a:pt x="205919" y="58936"/>
                  <a:pt x="169173" y="42863"/>
                  <a:pt x="128588" y="42863"/>
                </a:cubicBezTo>
                <a:close/>
                <a:moveTo>
                  <a:pt x="107156" y="192881"/>
                </a:moveTo>
                <a:cubicBezTo>
                  <a:pt x="107156" y="181053"/>
                  <a:pt x="116759" y="171450"/>
                  <a:pt x="128588" y="171450"/>
                </a:cubicBezTo>
                <a:cubicBezTo>
                  <a:pt x="140416" y="171450"/>
                  <a:pt x="150019" y="181053"/>
                  <a:pt x="150019" y="192881"/>
                </a:cubicBezTo>
                <a:cubicBezTo>
                  <a:pt x="150019" y="204709"/>
                  <a:pt x="140416" y="214313"/>
                  <a:pt x="128588" y="214313"/>
                </a:cubicBezTo>
                <a:cubicBezTo>
                  <a:pt x="116759" y="214313"/>
                  <a:pt x="107156" y="204709"/>
                  <a:pt x="107156" y="192881"/>
                </a:cubicBezTo>
                <a:close/>
                <a:moveTo>
                  <a:pt x="75009" y="145643"/>
                </a:moveTo>
                <a:cubicBezTo>
                  <a:pt x="69786" y="151581"/>
                  <a:pt x="60767" y="152117"/>
                  <a:pt x="54828" y="146893"/>
                </a:cubicBezTo>
                <a:cubicBezTo>
                  <a:pt x="48890" y="141669"/>
                  <a:pt x="48354" y="132651"/>
                  <a:pt x="53578" y="126712"/>
                </a:cubicBezTo>
                <a:cubicBezTo>
                  <a:pt x="71884" y="105995"/>
                  <a:pt x="98718" y="92869"/>
                  <a:pt x="128588" y="92869"/>
                </a:cubicBezTo>
                <a:cubicBezTo>
                  <a:pt x="158457" y="92869"/>
                  <a:pt x="185291" y="105995"/>
                  <a:pt x="203597" y="126712"/>
                </a:cubicBezTo>
                <a:cubicBezTo>
                  <a:pt x="208821" y="132651"/>
                  <a:pt x="208240" y="141669"/>
                  <a:pt x="202347" y="146893"/>
                </a:cubicBezTo>
                <a:cubicBezTo>
                  <a:pt x="196453" y="152117"/>
                  <a:pt x="187389" y="151537"/>
                  <a:pt x="182166" y="145643"/>
                </a:cubicBezTo>
                <a:cubicBezTo>
                  <a:pt x="169039" y="130775"/>
                  <a:pt x="149929" y="121444"/>
                  <a:pt x="128588" y="121444"/>
                </a:cubicBezTo>
                <a:cubicBezTo>
                  <a:pt x="107246" y="121444"/>
                  <a:pt x="88136" y="130775"/>
                  <a:pt x="75009" y="14564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5071825" y="6012182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Data-Light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095524" y="5974082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6438424" y="60121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72107" y="75858"/>
                </a:moveTo>
                <a:cubicBezTo>
                  <a:pt x="66660" y="73536"/>
                  <a:pt x="60365" y="76036"/>
                  <a:pt x="58043" y="81483"/>
                </a:cubicBezTo>
                <a:cubicBezTo>
                  <a:pt x="55721" y="86931"/>
                  <a:pt x="58222" y="93226"/>
                  <a:pt x="63669" y="95548"/>
                </a:cubicBezTo>
                <a:lnTo>
                  <a:pt x="68982" y="97825"/>
                </a:lnTo>
                <a:cubicBezTo>
                  <a:pt x="76706" y="101129"/>
                  <a:pt x="84698" y="103584"/>
                  <a:pt x="92913" y="105102"/>
                </a:cubicBezTo>
                <a:lnTo>
                  <a:pt x="92913" y="127471"/>
                </a:lnTo>
                <a:cubicBezTo>
                  <a:pt x="92913" y="129391"/>
                  <a:pt x="92601" y="131311"/>
                  <a:pt x="91976" y="133097"/>
                </a:cubicBezTo>
                <a:lnTo>
                  <a:pt x="79162" y="171539"/>
                </a:lnTo>
                <a:cubicBezTo>
                  <a:pt x="77286" y="177165"/>
                  <a:pt x="80323" y="183237"/>
                  <a:pt x="85948" y="185112"/>
                </a:cubicBezTo>
                <a:cubicBezTo>
                  <a:pt x="91574" y="186988"/>
                  <a:pt x="97646" y="183952"/>
                  <a:pt x="99521" y="178326"/>
                </a:cubicBezTo>
                <a:lnTo>
                  <a:pt x="110416" y="145643"/>
                </a:lnTo>
                <a:cubicBezTo>
                  <a:pt x="110996" y="143947"/>
                  <a:pt x="112559" y="142786"/>
                  <a:pt x="114345" y="142786"/>
                </a:cubicBezTo>
                <a:cubicBezTo>
                  <a:pt x="116131" y="142786"/>
                  <a:pt x="117738" y="143947"/>
                  <a:pt x="118274" y="145643"/>
                </a:cubicBezTo>
                <a:lnTo>
                  <a:pt x="129168" y="178326"/>
                </a:lnTo>
                <a:cubicBezTo>
                  <a:pt x="131043" y="183952"/>
                  <a:pt x="137115" y="186988"/>
                  <a:pt x="142741" y="185112"/>
                </a:cubicBezTo>
                <a:cubicBezTo>
                  <a:pt x="148367" y="183237"/>
                  <a:pt x="151358" y="177254"/>
                  <a:pt x="149483" y="171629"/>
                </a:cubicBezTo>
                <a:lnTo>
                  <a:pt x="136669" y="133186"/>
                </a:lnTo>
                <a:cubicBezTo>
                  <a:pt x="136044" y="131356"/>
                  <a:pt x="135731" y="129480"/>
                  <a:pt x="135731" y="127561"/>
                </a:cubicBezTo>
                <a:lnTo>
                  <a:pt x="135731" y="105192"/>
                </a:lnTo>
                <a:cubicBezTo>
                  <a:pt x="143947" y="103629"/>
                  <a:pt x="151939" y="101218"/>
                  <a:pt x="159663" y="97914"/>
                </a:cubicBezTo>
                <a:lnTo>
                  <a:pt x="164976" y="95637"/>
                </a:lnTo>
                <a:cubicBezTo>
                  <a:pt x="170423" y="93315"/>
                  <a:pt x="172923" y="87020"/>
                  <a:pt x="170602" y="81573"/>
                </a:cubicBezTo>
                <a:cubicBezTo>
                  <a:pt x="168280" y="76126"/>
                  <a:pt x="161985" y="73625"/>
                  <a:pt x="156537" y="75947"/>
                </a:cubicBezTo>
                <a:lnTo>
                  <a:pt x="151224" y="78135"/>
                </a:lnTo>
                <a:cubicBezTo>
                  <a:pt x="139571" y="83135"/>
                  <a:pt x="127025" y="85725"/>
                  <a:pt x="114300" y="85725"/>
                </a:cubicBezTo>
                <a:cubicBezTo>
                  <a:pt x="101575" y="85725"/>
                  <a:pt x="89074" y="83135"/>
                  <a:pt x="77376" y="78135"/>
                </a:cubicBezTo>
                <a:lnTo>
                  <a:pt x="72063" y="75858"/>
                </a:lnTo>
                <a:close/>
                <a:moveTo>
                  <a:pt x="114300" y="71438"/>
                </a:moveTo>
                <a:cubicBezTo>
                  <a:pt x="124157" y="71438"/>
                  <a:pt x="132159" y="63435"/>
                  <a:pt x="132159" y="53578"/>
                </a:cubicBezTo>
                <a:cubicBezTo>
                  <a:pt x="132159" y="43721"/>
                  <a:pt x="124157" y="35719"/>
                  <a:pt x="114300" y="35719"/>
                </a:cubicBezTo>
                <a:cubicBezTo>
                  <a:pt x="104443" y="35719"/>
                  <a:pt x="96441" y="43721"/>
                  <a:pt x="96441" y="53578"/>
                </a:cubicBezTo>
                <a:cubicBezTo>
                  <a:pt x="96441" y="63435"/>
                  <a:pt x="104443" y="71438"/>
                  <a:pt x="114300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6809899" y="6012182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850267" y="5974082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5" name="Shape 53"/>
          <p:cNvSpPr/>
          <p:nvPr/>
        </p:nvSpPr>
        <p:spPr>
          <a:xfrm>
            <a:off x="8193167" y="60121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4"/>
          <p:cNvSpPr/>
          <p:nvPr/>
        </p:nvSpPr>
        <p:spPr>
          <a:xfrm>
            <a:off x="8564642" y="6012182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Advantage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Analysis: How We Bridge the Divide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89710"/>
            <a:ext cx="5589270" cy="4979670"/>
          </a:xfrm>
          <a:custGeom>
            <a:avLst/>
            <a:gdLst/>
            <a:ahLst/>
            <a:cxnLst/>
            <a:rect l="l" t="t" r="r" b="b"/>
            <a:pathLst>
              <a:path w="5589270" h="4979670">
                <a:moveTo>
                  <a:pt x="152378" y="0"/>
                </a:moveTo>
                <a:lnTo>
                  <a:pt x="5436892" y="0"/>
                </a:lnTo>
                <a:cubicBezTo>
                  <a:pt x="5521048" y="0"/>
                  <a:pt x="5589270" y="68222"/>
                  <a:pt x="5589270" y="152378"/>
                </a:cubicBezTo>
                <a:lnTo>
                  <a:pt x="5589270" y="4827292"/>
                </a:lnTo>
                <a:cubicBezTo>
                  <a:pt x="5589270" y="4911448"/>
                  <a:pt x="5521048" y="4979670"/>
                  <a:pt x="5436892" y="4979670"/>
                </a:cubicBezTo>
                <a:lnTo>
                  <a:pt x="152378" y="4979670"/>
                </a:lnTo>
                <a:cubicBezTo>
                  <a:pt x="68222" y="4979670"/>
                  <a:pt x="0" y="4911448"/>
                  <a:pt x="0" y="4827292"/>
                </a:cubicBezTo>
                <a:lnTo>
                  <a:pt x="0" y="152378"/>
                </a:lnTo>
                <a:cubicBezTo>
                  <a:pt x="0" y="68222"/>
                  <a:pt x="68222" y="0"/>
                  <a:pt x="15237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7221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18745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836423"/>
            <a:ext cx="1800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030" y="2487933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114300" y="0"/>
                </a:moveTo>
                <a:lnTo>
                  <a:pt x="5008245" y="0"/>
                </a:lnTo>
                <a:cubicBezTo>
                  <a:pt x="5071371" y="0"/>
                  <a:pt x="5122545" y="51174"/>
                  <a:pt x="5122545" y="114300"/>
                </a:cubicBezTo>
                <a:lnTo>
                  <a:pt x="5122545" y="693420"/>
                </a:lnTo>
                <a:cubicBezTo>
                  <a:pt x="5122545" y="756546"/>
                  <a:pt x="5071371" y="807720"/>
                  <a:pt x="50082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441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1540" y="27584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10"/>
          <p:cNvSpPr/>
          <p:nvPr/>
        </p:nvSpPr>
        <p:spPr>
          <a:xfrm>
            <a:off x="1310640" y="2644141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&amp; Difficult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10640" y="2948941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and difficult to navigate, with steep learning curves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030" y="3455669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114300" y="0"/>
                </a:moveTo>
                <a:lnTo>
                  <a:pt x="5008245" y="0"/>
                </a:lnTo>
                <a:cubicBezTo>
                  <a:pt x="5071371" y="0"/>
                  <a:pt x="5122545" y="51174"/>
                  <a:pt x="5122545" y="114300"/>
                </a:cubicBezTo>
                <a:lnTo>
                  <a:pt x="5122545" y="693420"/>
                </a:lnTo>
                <a:cubicBezTo>
                  <a:pt x="5122545" y="756546"/>
                  <a:pt x="5071371" y="807720"/>
                  <a:pt x="50082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118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91540" y="37261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7" name="Text 15"/>
          <p:cNvSpPr/>
          <p:nvPr/>
        </p:nvSpPr>
        <p:spPr>
          <a:xfrm>
            <a:off x="1310640" y="3611882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10640" y="3916682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separated across multiple platforms and websites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030" y="4423410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114300" y="0"/>
                </a:moveTo>
                <a:lnTo>
                  <a:pt x="5008245" y="0"/>
                </a:lnTo>
                <a:cubicBezTo>
                  <a:pt x="5071371" y="0"/>
                  <a:pt x="5122545" y="51174"/>
                  <a:pt x="5122545" y="114300"/>
                </a:cubicBezTo>
                <a:lnTo>
                  <a:pt x="5122545" y="693420"/>
                </a:lnTo>
                <a:cubicBezTo>
                  <a:pt x="5122545" y="756546"/>
                  <a:pt x="5071371" y="807720"/>
                  <a:pt x="50082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796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1540" y="4693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1310640" y="4579623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Desktop-Heavy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10640" y="4884423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for desktop use, not mobile-first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" y="5391151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114300" y="0"/>
                </a:moveTo>
                <a:lnTo>
                  <a:pt x="5008245" y="0"/>
                </a:lnTo>
                <a:cubicBezTo>
                  <a:pt x="5071371" y="0"/>
                  <a:pt x="5122545" y="51174"/>
                  <a:pt x="5122545" y="114300"/>
                </a:cubicBezTo>
                <a:lnTo>
                  <a:pt x="5122545" y="693420"/>
                </a:lnTo>
                <a:cubicBezTo>
                  <a:pt x="5122545" y="756546"/>
                  <a:pt x="5071371" y="807720"/>
                  <a:pt x="50082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473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82015" y="566165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204" y="-7412"/>
                </a:moveTo>
                <a:cubicBezTo>
                  <a:pt x="9406" y="-10210"/>
                  <a:pt x="4882" y="-10210"/>
                  <a:pt x="2113" y="-7412"/>
                </a:cubicBezTo>
                <a:cubicBezTo>
                  <a:pt x="-655" y="-4614"/>
                  <a:pt x="-685" y="-89"/>
                  <a:pt x="2084" y="2709"/>
                </a:cubicBezTo>
                <a:lnTo>
                  <a:pt x="159246" y="159871"/>
                </a:lnTo>
                <a:cubicBezTo>
                  <a:pt x="162044" y="162669"/>
                  <a:pt x="166568" y="162669"/>
                  <a:pt x="169337" y="159871"/>
                </a:cubicBezTo>
                <a:cubicBezTo>
                  <a:pt x="172105" y="157073"/>
                  <a:pt x="172135" y="152549"/>
                  <a:pt x="169337" y="149781"/>
                </a:cubicBezTo>
                <a:lnTo>
                  <a:pt x="92720" y="73134"/>
                </a:lnTo>
                <a:cubicBezTo>
                  <a:pt x="109091" y="69890"/>
                  <a:pt x="121444" y="55424"/>
                  <a:pt x="121444" y="38100"/>
                </a:cubicBezTo>
                <a:cubicBezTo>
                  <a:pt x="121444" y="18365"/>
                  <a:pt x="105460" y="2381"/>
                  <a:pt x="85725" y="2381"/>
                </a:cubicBezTo>
                <a:cubicBezTo>
                  <a:pt x="68401" y="2381"/>
                  <a:pt x="53935" y="14734"/>
                  <a:pt x="50691" y="31105"/>
                </a:cubicBezTo>
                <a:lnTo>
                  <a:pt x="12204" y="-7412"/>
                </a:lnTo>
                <a:close/>
                <a:moveTo>
                  <a:pt x="70128" y="90904"/>
                </a:moveTo>
                <a:cubicBezTo>
                  <a:pt x="44023" y="94238"/>
                  <a:pt x="23813" y="116532"/>
                  <a:pt x="23813" y="143560"/>
                </a:cubicBezTo>
                <a:cubicBezTo>
                  <a:pt x="23813" y="148441"/>
                  <a:pt x="27771" y="152400"/>
                  <a:pt x="32653" y="152400"/>
                </a:cubicBezTo>
                <a:lnTo>
                  <a:pt x="131624" y="152400"/>
                </a:lnTo>
                <a:lnTo>
                  <a:pt x="70128" y="90904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Text 25"/>
          <p:cNvSpPr/>
          <p:nvPr/>
        </p:nvSpPr>
        <p:spPr>
          <a:xfrm>
            <a:off x="1310640" y="5547359"/>
            <a:ext cx="3152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Guidance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10640" y="5852159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Little to no guidance through the application process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4110" y="1489710"/>
            <a:ext cx="5589270" cy="4979670"/>
          </a:xfrm>
          <a:custGeom>
            <a:avLst/>
            <a:gdLst/>
            <a:ahLst/>
            <a:cxnLst/>
            <a:rect l="l" t="t" r="r" b="b"/>
            <a:pathLst>
              <a:path w="5589270" h="4979670">
                <a:moveTo>
                  <a:pt x="152378" y="0"/>
                </a:moveTo>
                <a:lnTo>
                  <a:pt x="5436892" y="0"/>
                </a:lnTo>
                <a:cubicBezTo>
                  <a:pt x="5521048" y="0"/>
                  <a:pt x="5589270" y="68222"/>
                  <a:pt x="5589270" y="152378"/>
                </a:cubicBezTo>
                <a:lnTo>
                  <a:pt x="5589270" y="4827292"/>
                </a:lnTo>
                <a:cubicBezTo>
                  <a:pt x="5589270" y="4911448"/>
                  <a:pt x="5521048" y="4979670"/>
                  <a:pt x="5436892" y="4979670"/>
                </a:cubicBezTo>
                <a:lnTo>
                  <a:pt x="152378" y="4979670"/>
                </a:lnTo>
                <a:cubicBezTo>
                  <a:pt x="68222" y="4979670"/>
                  <a:pt x="0" y="4911448"/>
                  <a:pt x="0" y="4827292"/>
                </a:cubicBezTo>
                <a:lnTo>
                  <a:pt x="0" y="152378"/>
                </a:lnTo>
                <a:cubicBezTo>
                  <a:pt x="0" y="68222"/>
                  <a:pt x="68222" y="0"/>
                  <a:pt x="15237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17221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98920" y="18745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1836423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0330" y="2487933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114300" y="0"/>
                </a:moveTo>
                <a:lnTo>
                  <a:pt x="5008245" y="0"/>
                </a:lnTo>
                <a:cubicBezTo>
                  <a:pt x="5071371" y="0"/>
                  <a:pt x="5122545" y="51174"/>
                  <a:pt x="5122545" y="114300"/>
                </a:cubicBezTo>
                <a:lnTo>
                  <a:pt x="5122545" y="693420"/>
                </a:lnTo>
                <a:cubicBezTo>
                  <a:pt x="5122545" y="756546"/>
                  <a:pt x="5071371" y="807720"/>
                  <a:pt x="50082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06540" y="26441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720840" y="27584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7139940" y="2644141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Simplified &amp; Guided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39940" y="2948941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Simplifies and guides the entire application process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50330" y="3455669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114300" y="0"/>
                </a:moveTo>
                <a:lnTo>
                  <a:pt x="5008245" y="0"/>
                </a:lnTo>
                <a:cubicBezTo>
                  <a:pt x="5071371" y="0"/>
                  <a:pt x="5122545" y="51174"/>
                  <a:pt x="5122545" y="114300"/>
                </a:cubicBezTo>
                <a:lnTo>
                  <a:pt x="5122545" y="693420"/>
                </a:lnTo>
                <a:cubicBezTo>
                  <a:pt x="5122545" y="756546"/>
                  <a:pt x="5071371" y="807720"/>
                  <a:pt x="50082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6540" y="36118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730365" y="372618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9954" y="38100"/>
                </a:moveTo>
                <a:lnTo>
                  <a:pt x="99745" y="23813"/>
                </a:lnTo>
                <a:lnTo>
                  <a:pt x="33635" y="23813"/>
                </a:lnTo>
                <a:lnTo>
                  <a:pt x="23426" y="38100"/>
                </a:lnTo>
                <a:lnTo>
                  <a:pt x="109954" y="38100"/>
                </a:lnTo>
                <a:close/>
                <a:moveTo>
                  <a:pt x="0" y="44202"/>
                </a:moveTo>
                <a:cubicBezTo>
                  <a:pt x="0" y="40243"/>
                  <a:pt x="1250" y="36374"/>
                  <a:pt x="3542" y="33129"/>
                </a:cubicBezTo>
                <a:lnTo>
                  <a:pt x="18127" y="12740"/>
                </a:lnTo>
                <a:cubicBezTo>
                  <a:pt x="21699" y="7739"/>
                  <a:pt x="27474" y="4763"/>
                  <a:pt x="33605" y="4763"/>
                </a:cubicBezTo>
                <a:lnTo>
                  <a:pt x="99715" y="4763"/>
                </a:lnTo>
                <a:cubicBezTo>
                  <a:pt x="105876" y="4763"/>
                  <a:pt x="111651" y="7739"/>
                  <a:pt x="115223" y="12740"/>
                </a:cubicBezTo>
                <a:lnTo>
                  <a:pt x="129778" y="33129"/>
                </a:lnTo>
                <a:cubicBezTo>
                  <a:pt x="132100" y="36374"/>
                  <a:pt x="133320" y="40243"/>
                  <a:pt x="133320" y="44202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420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7139940" y="3611882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Platform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39940" y="3916682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Single, integrated platform with all tools in one place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0330" y="4423410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114300" y="0"/>
                </a:moveTo>
                <a:lnTo>
                  <a:pt x="5008245" y="0"/>
                </a:lnTo>
                <a:cubicBezTo>
                  <a:pt x="5071371" y="0"/>
                  <a:pt x="5122545" y="51174"/>
                  <a:pt x="5122545" y="114300"/>
                </a:cubicBezTo>
                <a:lnTo>
                  <a:pt x="5122545" y="693420"/>
                </a:lnTo>
                <a:cubicBezTo>
                  <a:pt x="5122545" y="756546"/>
                  <a:pt x="5071371" y="807720"/>
                  <a:pt x="50082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06540" y="45796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739890" y="46939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7139940" y="4579623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Mobile-First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39940" y="4884423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specifically for mobile devices and data constraints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50330" y="5391151"/>
            <a:ext cx="5122545" cy="807720"/>
          </a:xfrm>
          <a:custGeom>
            <a:avLst/>
            <a:gdLst/>
            <a:ahLst/>
            <a:cxnLst/>
            <a:rect l="l" t="t" r="r" b="b"/>
            <a:pathLst>
              <a:path w="5122545" h="807720">
                <a:moveTo>
                  <a:pt x="114300" y="0"/>
                </a:moveTo>
                <a:lnTo>
                  <a:pt x="5008245" y="0"/>
                </a:lnTo>
                <a:cubicBezTo>
                  <a:pt x="5071371" y="0"/>
                  <a:pt x="5122545" y="51174"/>
                  <a:pt x="5122545" y="114300"/>
                </a:cubicBezTo>
                <a:lnTo>
                  <a:pt x="5122545" y="693420"/>
                </a:lnTo>
                <a:cubicBezTo>
                  <a:pt x="5122545" y="756546"/>
                  <a:pt x="5071371" y="807720"/>
                  <a:pt x="500824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06540" y="55473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11315" y="566165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15835"/>
                </a:moveTo>
                <a:lnTo>
                  <a:pt x="45333" y="54412"/>
                </a:lnTo>
                <a:cubicBezTo>
                  <a:pt x="43964" y="55930"/>
                  <a:pt x="44023" y="58281"/>
                  <a:pt x="45482" y="59740"/>
                </a:cubicBezTo>
                <a:cubicBezTo>
                  <a:pt x="54560" y="68818"/>
                  <a:pt x="69294" y="68818"/>
                  <a:pt x="78373" y="59740"/>
                </a:cubicBezTo>
                <a:lnTo>
                  <a:pt x="87838" y="50274"/>
                </a:lnTo>
                <a:cubicBezTo>
                  <a:pt x="89089" y="49024"/>
                  <a:pt x="90666" y="48339"/>
                  <a:pt x="92273" y="48220"/>
                </a:cubicBezTo>
                <a:cubicBezTo>
                  <a:pt x="94298" y="48042"/>
                  <a:pt x="96381" y="48726"/>
                  <a:pt x="97929" y="50274"/>
                </a:cubicBezTo>
                <a:lnTo>
                  <a:pt x="150495" y="102394"/>
                </a:lnTo>
                <a:lnTo>
                  <a:pt x="171450" y="85725"/>
                </a:lnTo>
                <a:lnTo>
                  <a:pt x="171450" y="0"/>
                </a:lnTo>
                <a:lnTo>
                  <a:pt x="138113" y="19050"/>
                </a:lnTo>
                <a:lnTo>
                  <a:pt x="131028" y="14317"/>
                </a:lnTo>
                <a:cubicBezTo>
                  <a:pt x="126325" y="11192"/>
                  <a:pt x="120819" y="9525"/>
                  <a:pt x="115163" y="9525"/>
                </a:cubicBezTo>
                <a:lnTo>
                  <a:pt x="94208" y="9525"/>
                </a:lnTo>
                <a:cubicBezTo>
                  <a:pt x="93881" y="9525"/>
                  <a:pt x="93524" y="9525"/>
                  <a:pt x="93196" y="9555"/>
                </a:cubicBezTo>
                <a:cubicBezTo>
                  <a:pt x="88166" y="9823"/>
                  <a:pt x="83433" y="12085"/>
                  <a:pt x="80040" y="15835"/>
                </a:cubicBezTo>
                <a:close/>
                <a:moveTo>
                  <a:pt x="34707" y="44857"/>
                </a:moveTo>
                <a:lnTo>
                  <a:pt x="66496" y="9525"/>
                </a:lnTo>
                <a:lnTo>
                  <a:pt x="54709" y="9525"/>
                </a:lnTo>
                <a:cubicBezTo>
                  <a:pt x="47119" y="9525"/>
                  <a:pt x="39856" y="12531"/>
                  <a:pt x="34498" y="17889"/>
                </a:cubicBezTo>
                <a:lnTo>
                  <a:pt x="0" y="57150"/>
                </a:lnTo>
                <a:lnTo>
                  <a:pt x="0" y="161925"/>
                </a:lnTo>
                <a:lnTo>
                  <a:pt x="42863" y="121444"/>
                </a:lnTo>
                <a:lnTo>
                  <a:pt x="46553" y="124510"/>
                </a:lnTo>
                <a:cubicBezTo>
                  <a:pt x="53400" y="130225"/>
                  <a:pt x="62032" y="133350"/>
                  <a:pt x="70931" y="133350"/>
                </a:cubicBezTo>
                <a:lnTo>
                  <a:pt x="75605" y="133350"/>
                </a:lnTo>
                <a:lnTo>
                  <a:pt x="73521" y="131266"/>
                </a:lnTo>
                <a:cubicBezTo>
                  <a:pt x="70723" y="128468"/>
                  <a:pt x="70723" y="123944"/>
                  <a:pt x="73521" y="121176"/>
                </a:cubicBezTo>
                <a:cubicBezTo>
                  <a:pt x="76319" y="118408"/>
                  <a:pt x="80843" y="118378"/>
                  <a:pt x="83612" y="121176"/>
                </a:cubicBezTo>
                <a:lnTo>
                  <a:pt x="95816" y="133380"/>
                </a:lnTo>
                <a:lnTo>
                  <a:pt x="98494" y="133380"/>
                </a:lnTo>
                <a:cubicBezTo>
                  <a:pt x="104180" y="133380"/>
                  <a:pt x="109746" y="132100"/>
                  <a:pt x="114806" y="129719"/>
                </a:cubicBezTo>
                <a:lnTo>
                  <a:pt x="106859" y="121741"/>
                </a:lnTo>
                <a:cubicBezTo>
                  <a:pt x="104061" y="118943"/>
                  <a:pt x="104061" y="114419"/>
                  <a:pt x="106859" y="111651"/>
                </a:cubicBezTo>
                <a:cubicBezTo>
                  <a:pt x="109657" y="108883"/>
                  <a:pt x="114181" y="108853"/>
                  <a:pt x="116949" y="111651"/>
                </a:cubicBezTo>
                <a:lnTo>
                  <a:pt x="126474" y="121176"/>
                </a:lnTo>
                <a:lnTo>
                  <a:pt x="131683" y="115967"/>
                </a:lnTo>
                <a:cubicBezTo>
                  <a:pt x="134332" y="113318"/>
                  <a:pt x="135106" y="109478"/>
                  <a:pt x="133945" y="106114"/>
                </a:cubicBezTo>
                <a:lnTo>
                  <a:pt x="92899" y="65395"/>
                </a:lnTo>
                <a:lnTo>
                  <a:pt x="88463" y="69830"/>
                </a:lnTo>
                <a:cubicBezTo>
                  <a:pt x="73789" y="84505"/>
                  <a:pt x="50036" y="84505"/>
                  <a:pt x="35362" y="69830"/>
                </a:cubicBezTo>
                <a:cubicBezTo>
                  <a:pt x="28515" y="62984"/>
                  <a:pt x="28248" y="52001"/>
                  <a:pt x="34707" y="448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7139940" y="5547359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AI-Guided Support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39940" y="5852159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guidance at every step of the journey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d73b8a0c239096dece87472222aea1692fb1353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6012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123"/>
          </a:xfrm>
          <a:custGeom>
            <a:avLst/>
            <a:gdLst/>
            <a:ahLst/>
            <a:cxnLst/>
            <a:rect l="l" t="t" r="r" b="b"/>
            <a:pathLst>
              <a:path w="12192000" h="6860123">
                <a:moveTo>
                  <a:pt x="0" y="0"/>
                </a:moveTo>
                <a:lnTo>
                  <a:pt x="12192000" y="0"/>
                </a:lnTo>
                <a:lnTo>
                  <a:pt x="12192000" y="6860123"/>
                </a:lnTo>
                <a:lnTo>
                  <a:pt x="0" y="686012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39610" y="339610"/>
            <a:ext cx="33961" cy="271688"/>
          </a:xfrm>
          <a:custGeom>
            <a:avLst/>
            <a:gdLst/>
            <a:ahLst/>
            <a:cxnLst/>
            <a:rect l="l" t="t" r="r" b="b"/>
            <a:pathLst>
              <a:path w="33961" h="271688">
                <a:moveTo>
                  <a:pt x="16981" y="0"/>
                </a:moveTo>
                <a:lnTo>
                  <a:pt x="16981" y="0"/>
                </a:lnTo>
                <a:cubicBezTo>
                  <a:pt x="26359" y="0"/>
                  <a:pt x="33961" y="7602"/>
                  <a:pt x="33961" y="16981"/>
                </a:cubicBezTo>
                <a:lnTo>
                  <a:pt x="33961" y="254708"/>
                </a:lnTo>
                <a:cubicBezTo>
                  <a:pt x="33961" y="264086"/>
                  <a:pt x="26359" y="271688"/>
                  <a:pt x="16981" y="271688"/>
                </a:cubicBezTo>
                <a:lnTo>
                  <a:pt x="16981" y="271688"/>
                </a:lnTo>
                <a:cubicBezTo>
                  <a:pt x="7602" y="271688"/>
                  <a:pt x="0" y="264086"/>
                  <a:pt x="0" y="254708"/>
                </a:cubicBezTo>
                <a:lnTo>
                  <a:pt x="0" y="16981"/>
                </a:lnTo>
                <a:cubicBezTo>
                  <a:pt x="0" y="7602"/>
                  <a:pt x="7602" y="0"/>
                  <a:pt x="16981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475454" y="390552"/>
            <a:ext cx="88298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spc="47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9610" y="713181"/>
            <a:ext cx="11716546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Scalable Path Forward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3006" y="1327875"/>
            <a:ext cx="3717032" cy="2129355"/>
          </a:xfrm>
          <a:custGeom>
            <a:avLst/>
            <a:gdLst/>
            <a:ahLst/>
            <a:cxnLst/>
            <a:rect l="l" t="t" r="r" b="b"/>
            <a:pathLst>
              <a:path w="3717032" h="2129355">
                <a:moveTo>
                  <a:pt x="135853" y="0"/>
                </a:moveTo>
                <a:lnTo>
                  <a:pt x="3581179" y="0"/>
                </a:lnTo>
                <a:cubicBezTo>
                  <a:pt x="3656208" y="0"/>
                  <a:pt x="3717032" y="60823"/>
                  <a:pt x="3717032" y="135853"/>
                </a:cubicBezTo>
                <a:lnTo>
                  <a:pt x="3717032" y="1993502"/>
                </a:lnTo>
                <a:cubicBezTo>
                  <a:pt x="3717032" y="2068531"/>
                  <a:pt x="3656208" y="2129355"/>
                  <a:pt x="3581179" y="2129355"/>
                </a:cubicBezTo>
                <a:lnTo>
                  <a:pt x="135853" y="2129355"/>
                </a:lnTo>
                <a:cubicBezTo>
                  <a:pt x="60874" y="2129355"/>
                  <a:pt x="0" y="2068481"/>
                  <a:pt x="0" y="1993502"/>
                </a:cubicBezTo>
                <a:lnTo>
                  <a:pt x="0" y="135853"/>
                </a:lnTo>
                <a:cubicBezTo>
                  <a:pt x="0" y="60874"/>
                  <a:pt x="60874" y="0"/>
                  <a:pt x="13585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0168" y="1535040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101883" y="0"/>
                </a:moveTo>
                <a:lnTo>
                  <a:pt x="441493" y="0"/>
                </a:lnTo>
                <a:cubicBezTo>
                  <a:pt x="497761" y="0"/>
                  <a:pt x="543376" y="45615"/>
                  <a:pt x="543376" y="101883"/>
                </a:cubicBezTo>
                <a:lnTo>
                  <a:pt x="543376" y="441493"/>
                </a:lnTo>
                <a:cubicBezTo>
                  <a:pt x="543376" y="497761"/>
                  <a:pt x="497761" y="543376"/>
                  <a:pt x="441493" y="543376"/>
                </a:cubicBezTo>
                <a:lnTo>
                  <a:pt x="101883" y="543376"/>
                </a:lnTo>
                <a:cubicBezTo>
                  <a:pt x="45615" y="543376"/>
                  <a:pt x="0" y="497761"/>
                  <a:pt x="0" y="44149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96625" y="1679374"/>
            <a:ext cx="254708" cy="254708"/>
          </a:xfrm>
          <a:custGeom>
            <a:avLst/>
            <a:gdLst/>
            <a:ahLst/>
            <a:cxnLst/>
            <a:rect l="l" t="t" r="r" b="b"/>
            <a:pathLst>
              <a:path w="254708" h="254708">
                <a:moveTo>
                  <a:pt x="63677" y="159192"/>
                </a:moveTo>
                <a:lnTo>
                  <a:pt x="12188" y="159192"/>
                </a:lnTo>
                <a:cubicBezTo>
                  <a:pt x="-199" y="159192"/>
                  <a:pt x="-7810" y="145711"/>
                  <a:pt x="-1443" y="135065"/>
                </a:cubicBezTo>
                <a:lnTo>
                  <a:pt x="24874" y="91187"/>
                </a:lnTo>
                <a:cubicBezTo>
                  <a:pt x="29202" y="83974"/>
                  <a:pt x="36962" y="79596"/>
                  <a:pt x="45370" y="79596"/>
                </a:cubicBezTo>
                <a:lnTo>
                  <a:pt x="92630" y="79596"/>
                </a:lnTo>
                <a:cubicBezTo>
                  <a:pt x="130488" y="15471"/>
                  <a:pt x="186951" y="12238"/>
                  <a:pt x="224710" y="17760"/>
                </a:cubicBezTo>
                <a:cubicBezTo>
                  <a:pt x="231077" y="18705"/>
                  <a:pt x="236052" y="23680"/>
                  <a:pt x="236948" y="29998"/>
                </a:cubicBezTo>
                <a:cubicBezTo>
                  <a:pt x="242470" y="67756"/>
                  <a:pt x="239236" y="124220"/>
                  <a:pt x="175111" y="162078"/>
                </a:cubicBezTo>
                <a:lnTo>
                  <a:pt x="175111" y="209338"/>
                </a:lnTo>
                <a:cubicBezTo>
                  <a:pt x="175111" y="217745"/>
                  <a:pt x="170734" y="225506"/>
                  <a:pt x="163520" y="229834"/>
                </a:cubicBezTo>
                <a:lnTo>
                  <a:pt x="119643" y="256150"/>
                </a:lnTo>
                <a:cubicBezTo>
                  <a:pt x="109047" y="262518"/>
                  <a:pt x="95515" y="254857"/>
                  <a:pt x="95515" y="242519"/>
                </a:cubicBezTo>
                <a:lnTo>
                  <a:pt x="95515" y="191031"/>
                </a:lnTo>
                <a:cubicBezTo>
                  <a:pt x="95515" y="173470"/>
                  <a:pt x="81238" y="159192"/>
                  <a:pt x="63677" y="159192"/>
                </a:cubicBezTo>
                <a:lnTo>
                  <a:pt x="63627" y="159192"/>
                </a:lnTo>
                <a:close/>
                <a:moveTo>
                  <a:pt x="198990" y="79596"/>
                </a:moveTo>
                <a:cubicBezTo>
                  <a:pt x="198990" y="66417"/>
                  <a:pt x="188291" y="55717"/>
                  <a:pt x="175111" y="55717"/>
                </a:cubicBezTo>
                <a:cubicBezTo>
                  <a:pt x="161932" y="55717"/>
                  <a:pt x="151233" y="66417"/>
                  <a:pt x="151233" y="79596"/>
                </a:cubicBezTo>
                <a:cubicBezTo>
                  <a:pt x="151233" y="92775"/>
                  <a:pt x="161932" y="103475"/>
                  <a:pt x="175111" y="103475"/>
                </a:cubicBezTo>
                <a:cubicBezTo>
                  <a:pt x="188291" y="103475"/>
                  <a:pt x="198990" y="92775"/>
                  <a:pt x="198990" y="795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550168" y="2248221"/>
            <a:ext cx="338761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Solution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0168" y="2587831"/>
            <a:ext cx="3370630" cy="66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and mobile technology provide a </a:t>
            </a:r>
            <a:pPr>
              <a:lnSpc>
                <a:spcPct val="14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solution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can reach millions of young people across South Africa efficiently and cost-effectively.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38439" y="1327875"/>
            <a:ext cx="3717032" cy="2129355"/>
          </a:xfrm>
          <a:custGeom>
            <a:avLst/>
            <a:gdLst/>
            <a:ahLst/>
            <a:cxnLst/>
            <a:rect l="l" t="t" r="r" b="b"/>
            <a:pathLst>
              <a:path w="3717032" h="2129355">
                <a:moveTo>
                  <a:pt x="135853" y="0"/>
                </a:moveTo>
                <a:lnTo>
                  <a:pt x="3581179" y="0"/>
                </a:lnTo>
                <a:cubicBezTo>
                  <a:pt x="3656208" y="0"/>
                  <a:pt x="3717032" y="60823"/>
                  <a:pt x="3717032" y="135853"/>
                </a:cubicBezTo>
                <a:lnTo>
                  <a:pt x="3717032" y="1993502"/>
                </a:lnTo>
                <a:cubicBezTo>
                  <a:pt x="3717032" y="2068531"/>
                  <a:pt x="3656208" y="2129355"/>
                  <a:pt x="3581179" y="2129355"/>
                </a:cubicBezTo>
                <a:lnTo>
                  <a:pt x="135853" y="2129355"/>
                </a:lnTo>
                <a:cubicBezTo>
                  <a:pt x="60874" y="2129355"/>
                  <a:pt x="0" y="2068481"/>
                  <a:pt x="0" y="1993502"/>
                </a:cubicBezTo>
                <a:lnTo>
                  <a:pt x="0" y="135853"/>
                </a:lnTo>
                <a:cubicBezTo>
                  <a:pt x="0" y="60874"/>
                  <a:pt x="60874" y="0"/>
                  <a:pt x="13585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5601" y="1535040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101883" y="0"/>
                </a:moveTo>
                <a:lnTo>
                  <a:pt x="441493" y="0"/>
                </a:lnTo>
                <a:cubicBezTo>
                  <a:pt x="497761" y="0"/>
                  <a:pt x="543376" y="45615"/>
                  <a:pt x="543376" y="101883"/>
                </a:cubicBezTo>
                <a:lnTo>
                  <a:pt x="543376" y="441493"/>
                </a:lnTo>
                <a:cubicBezTo>
                  <a:pt x="543376" y="497761"/>
                  <a:pt x="497761" y="543376"/>
                  <a:pt x="441493" y="543376"/>
                </a:cubicBezTo>
                <a:lnTo>
                  <a:pt x="101883" y="543376"/>
                </a:lnTo>
                <a:cubicBezTo>
                  <a:pt x="45615" y="543376"/>
                  <a:pt x="0" y="497761"/>
                  <a:pt x="0" y="44149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592058" y="1679374"/>
            <a:ext cx="254708" cy="254708"/>
          </a:xfrm>
          <a:custGeom>
            <a:avLst/>
            <a:gdLst/>
            <a:ahLst/>
            <a:cxnLst/>
            <a:rect l="l" t="t" r="r" b="b"/>
            <a:pathLst>
              <a:path w="254708" h="254708">
                <a:moveTo>
                  <a:pt x="167152" y="175111"/>
                </a:moveTo>
                <a:cubicBezTo>
                  <a:pt x="215506" y="175111"/>
                  <a:pt x="254708" y="135910"/>
                  <a:pt x="254708" y="87556"/>
                </a:cubicBezTo>
                <a:cubicBezTo>
                  <a:pt x="254708" y="39201"/>
                  <a:pt x="215506" y="0"/>
                  <a:pt x="167152" y="0"/>
                </a:cubicBezTo>
                <a:cubicBezTo>
                  <a:pt x="118797" y="0"/>
                  <a:pt x="79596" y="39201"/>
                  <a:pt x="79596" y="87556"/>
                </a:cubicBezTo>
                <a:cubicBezTo>
                  <a:pt x="79596" y="96859"/>
                  <a:pt x="81039" y="105863"/>
                  <a:pt x="83725" y="114270"/>
                </a:cubicBezTo>
                <a:lnTo>
                  <a:pt x="3482" y="194513"/>
                </a:lnTo>
                <a:cubicBezTo>
                  <a:pt x="1244" y="196752"/>
                  <a:pt x="0" y="199786"/>
                  <a:pt x="0" y="202970"/>
                </a:cubicBezTo>
                <a:lnTo>
                  <a:pt x="0" y="242768"/>
                </a:lnTo>
                <a:cubicBezTo>
                  <a:pt x="0" y="249385"/>
                  <a:pt x="5323" y="254708"/>
                  <a:pt x="11939" y="254708"/>
                </a:cubicBezTo>
                <a:lnTo>
                  <a:pt x="51737" y="254708"/>
                </a:lnTo>
                <a:cubicBezTo>
                  <a:pt x="58354" y="254708"/>
                  <a:pt x="63677" y="249385"/>
                  <a:pt x="63677" y="242768"/>
                </a:cubicBezTo>
                <a:lnTo>
                  <a:pt x="63677" y="222869"/>
                </a:lnTo>
                <a:lnTo>
                  <a:pt x="83576" y="222869"/>
                </a:lnTo>
                <a:cubicBezTo>
                  <a:pt x="90192" y="222869"/>
                  <a:pt x="95515" y="217546"/>
                  <a:pt x="95515" y="210930"/>
                </a:cubicBezTo>
                <a:lnTo>
                  <a:pt x="95515" y="191031"/>
                </a:lnTo>
                <a:lnTo>
                  <a:pt x="115414" y="191031"/>
                </a:lnTo>
                <a:cubicBezTo>
                  <a:pt x="118598" y="191031"/>
                  <a:pt x="121633" y="189787"/>
                  <a:pt x="123871" y="187548"/>
                </a:cubicBezTo>
                <a:lnTo>
                  <a:pt x="140437" y="170982"/>
                </a:lnTo>
                <a:cubicBezTo>
                  <a:pt x="148845" y="173669"/>
                  <a:pt x="157849" y="175111"/>
                  <a:pt x="167152" y="175111"/>
                </a:cubicBezTo>
                <a:close/>
                <a:moveTo>
                  <a:pt x="187051" y="47758"/>
                </a:moveTo>
                <a:cubicBezTo>
                  <a:pt x="198033" y="47758"/>
                  <a:pt x="206950" y="56674"/>
                  <a:pt x="206950" y="67657"/>
                </a:cubicBezTo>
                <a:cubicBezTo>
                  <a:pt x="206950" y="78639"/>
                  <a:pt x="198033" y="87556"/>
                  <a:pt x="187051" y="87556"/>
                </a:cubicBezTo>
                <a:cubicBezTo>
                  <a:pt x="176068" y="87556"/>
                  <a:pt x="167152" y="78639"/>
                  <a:pt x="167152" y="67657"/>
                </a:cubicBezTo>
                <a:cubicBezTo>
                  <a:pt x="167152" y="56674"/>
                  <a:pt x="176068" y="47758"/>
                  <a:pt x="187051" y="4775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4445601" y="2248221"/>
            <a:ext cx="338761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&amp; Support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45601" y="2587831"/>
            <a:ext cx="3370630" cy="66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Youth unemployment is largely an issue of </a:t>
            </a:r>
            <a:pPr>
              <a:lnSpc>
                <a:spcPct val="14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and support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capability. Our solution addresses the root cause, not just the symptoms.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33872" y="1327875"/>
            <a:ext cx="3717032" cy="2129355"/>
          </a:xfrm>
          <a:custGeom>
            <a:avLst/>
            <a:gdLst/>
            <a:ahLst/>
            <a:cxnLst/>
            <a:rect l="l" t="t" r="r" b="b"/>
            <a:pathLst>
              <a:path w="3717032" h="2129355">
                <a:moveTo>
                  <a:pt x="135853" y="0"/>
                </a:moveTo>
                <a:lnTo>
                  <a:pt x="3581179" y="0"/>
                </a:lnTo>
                <a:cubicBezTo>
                  <a:pt x="3656208" y="0"/>
                  <a:pt x="3717032" y="60823"/>
                  <a:pt x="3717032" y="135853"/>
                </a:cubicBezTo>
                <a:lnTo>
                  <a:pt x="3717032" y="1993502"/>
                </a:lnTo>
                <a:cubicBezTo>
                  <a:pt x="3717032" y="2068531"/>
                  <a:pt x="3656208" y="2129355"/>
                  <a:pt x="3581179" y="2129355"/>
                </a:cubicBezTo>
                <a:lnTo>
                  <a:pt x="135853" y="2129355"/>
                </a:lnTo>
                <a:cubicBezTo>
                  <a:pt x="60874" y="2129355"/>
                  <a:pt x="0" y="2068481"/>
                  <a:pt x="0" y="1993502"/>
                </a:cubicBezTo>
                <a:lnTo>
                  <a:pt x="0" y="135853"/>
                </a:lnTo>
                <a:cubicBezTo>
                  <a:pt x="0" y="60874"/>
                  <a:pt x="60874" y="0"/>
                  <a:pt x="13585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41034" y="1535040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101883" y="0"/>
                </a:moveTo>
                <a:lnTo>
                  <a:pt x="441493" y="0"/>
                </a:lnTo>
                <a:cubicBezTo>
                  <a:pt x="497761" y="0"/>
                  <a:pt x="543376" y="45615"/>
                  <a:pt x="543376" y="101883"/>
                </a:cubicBezTo>
                <a:lnTo>
                  <a:pt x="543376" y="441493"/>
                </a:lnTo>
                <a:cubicBezTo>
                  <a:pt x="543376" y="497761"/>
                  <a:pt x="497761" y="543376"/>
                  <a:pt x="441493" y="543376"/>
                </a:cubicBezTo>
                <a:lnTo>
                  <a:pt x="101883" y="543376"/>
                </a:lnTo>
                <a:cubicBezTo>
                  <a:pt x="45615" y="543376"/>
                  <a:pt x="0" y="497761"/>
                  <a:pt x="0" y="44149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487491" y="1679374"/>
            <a:ext cx="254708" cy="254708"/>
          </a:xfrm>
          <a:custGeom>
            <a:avLst/>
            <a:gdLst/>
            <a:ahLst/>
            <a:cxnLst/>
            <a:rect l="l" t="t" r="r" b="b"/>
            <a:pathLst>
              <a:path w="254708" h="254708">
                <a:moveTo>
                  <a:pt x="15919" y="15919"/>
                </a:moveTo>
                <a:cubicBezTo>
                  <a:pt x="7114" y="15919"/>
                  <a:pt x="0" y="23033"/>
                  <a:pt x="0" y="31838"/>
                </a:cubicBezTo>
                <a:cubicBezTo>
                  <a:pt x="0" y="40644"/>
                  <a:pt x="7114" y="47758"/>
                  <a:pt x="15919" y="47758"/>
                </a:cubicBezTo>
                <a:lnTo>
                  <a:pt x="19899" y="47758"/>
                </a:lnTo>
                <a:lnTo>
                  <a:pt x="19899" y="79596"/>
                </a:lnTo>
                <a:lnTo>
                  <a:pt x="0" y="79596"/>
                </a:lnTo>
                <a:lnTo>
                  <a:pt x="0" y="135313"/>
                </a:lnTo>
                <a:cubicBezTo>
                  <a:pt x="18705" y="139990"/>
                  <a:pt x="31838" y="156804"/>
                  <a:pt x="31838" y="176106"/>
                </a:cubicBezTo>
                <a:lnTo>
                  <a:pt x="31838" y="222869"/>
                </a:lnTo>
                <a:cubicBezTo>
                  <a:pt x="31838" y="231674"/>
                  <a:pt x="38952" y="238788"/>
                  <a:pt x="47758" y="238788"/>
                </a:cubicBezTo>
                <a:lnTo>
                  <a:pt x="63677" y="238788"/>
                </a:lnTo>
                <a:cubicBezTo>
                  <a:pt x="72482" y="238788"/>
                  <a:pt x="79596" y="231674"/>
                  <a:pt x="79596" y="222869"/>
                </a:cubicBezTo>
                <a:lnTo>
                  <a:pt x="79596" y="191031"/>
                </a:lnTo>
                <a:cubicBezTo>
                  <a:pt x="79596" y="164664"/>
                  <a:pt x="100988" y="143273"/>
                  <a:pt x="127354" y="143273"/>
                </a:cubicBezTo>
                <a:cubicBezTo>
                  <a:pt x="153720" y="143273"/>
                  <a:pt x="175111" y="164664"/>
                  <a:pt x="175111" y="191031"/>
                </a:cubicBezTo>
                <a:lnTo>
                  <a:pt x="175111" y="222869"/>
                </a:lnTo>
                <a:cubicBezTo>
                  <a:pt x="175111" y="231674"/>
                  <a:pt x="182225" y="238788"/>
                  <a:pt x="191031" y="238788"/>
                </a:cubicBezTo>
                <a:lnTo>
                  <a:pt x="206950" y="238788"/>
                </a:lnTo>
                <a:cubicBezTo>
                  <a:pt x="215755" y="238788"/>
                  <a:pt x="222869" y="231674"/>
                  <a:pt x="222869" y="222869"/>
                </a:cubicBezTo>
                <a:lnTo>
                  <a:pt x="222869" y="176106"/>
                </a:lnTo>
                <a:cubicBezTo>
                  <a:pt x="222869" y="156804"/>
                  <a:pt x="236002" y="139990"/>
                  <a:pt x="254708" y="135313"/>
                </a:cubicBezTo>
                <a:lnTo>
                  <a:pt x="254708" y="79596"/>
                </a:lnTo>
                <a:lnTo>
                  <a:pt x="234808" y="79596"/>
                </a:lnTo>
                <a:lnTo>
                  <a:pt x="234808" y="47758"/>
                </a:lnTo>
                <a:lnTo>
                  <a:pt x="238788" y="47758"/>
                </a:lnTo>
                <a:cubicBezTo>
                  <a:pt x="247594" y="47758"/>
                  <a:pt x="254708" y="40644"/>
                  <a:pt x="254708" y="31838"/>
                </a:cubicBezTo>
                <a:cubicBezTo>
                  <a:pt x="254708" y="23033"/>
                  <a:pt x="247594" y="15919"/>
                  <a:pt x="238788" y="15919"/>
                </a:cubicBezTo>
                <a:lnTo>
                  <a:pt x="15919" y="15919"/>
                </a:lnTo>
                <a:close/>
                <a:moveTo>
                  <a:pt x="210930" y="47758"/>
                </a:moveTo>
                <a:lnTo>
                  <a:pt x="210930" y="79596"/>
                </a:lnTo>
                <a:lnTo>
                  <a:pt x="171132" y="79596"/>
                </a:lnTo>
                <a:lnTo>
                  <a:pt x="171132" y="47758"/>
                </a:lnTo>
                <a:lnTo>
                  <a:pt x="210930" y="47758"/>
                </a:lnTo>
                <a:close/>
                <a:moveTo>
                  <a:pt x="147253" y="47758"/>
                </a:moveTo>
                <a:lnTo>
                  <a:pt x="147253" y="79596"/>
                </a:lnTo>
                <a:lnTo>
                  <a:pt x="107455" y="79596"/>
                </a:lnTo>
                <a:lnTo>
                  <a:pt x="107455" y="47758"/>
                </a:lnTo>
                <a:lnTo>
                  <a:pt x="147253" y="47758"/>
                </a:lnTo>
                <a:close/>
                <a:moveTo>
                  <a:pt x="43778" y="47758"/>
                </a:moveTo>
                <a:lnTo>
                  <a:pt x="83576" y="47758"/>
                </a:lnTo>
                <a:lnTo>
                  <a:pt x="83576" y="79596"/>
                </a:lnTo>
                <a:lnTo>
                  <a:pt x="43778" y="79596"/>
                </a:lnTo>
                <a:lnTo>
                  <a:pt x="43778" y="4775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7"/>
          <p:cNvSpPr/>
          <p:nvPr/>
        </p:nvSpPr>
        <p:spPr>
          <a:xfrm>
            <a:off x="8341034" y="2248221"/>
            <a:ext cx="338761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Bridging the Gap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41034" y="2587831"/>
            <a:ext cx="3370630" cy="66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tools can help </a:t>
            </a:r>
            <a:pPr>
              <a:lnSpc>
                <a:spcPct val="14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 this gap effectively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transforming job seekers into successful applicants through guided, AI-powered support.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43006" y="3633828"/>
            <a:ext cx="11511082" cy="3003851"/>
          </a:xfrm>
          <a:custGeom>
            <a:avLst/>
            <a:gdLst/>
            <a:ahLst/>
            <a:cxnLst/>
            <a:rect l="l" t="t" r="r" b="b"/>
            <a:pathLst>
              <a:path w="11511082" h="3003851">
                <a:moveTo>
                  <a:pt x="135834" y="0"/>
                </a:moveTo>
                <a:lnTo>
                  <a:pt x="11375248" y="0"/>
                </a:lnTo>
                <a:cubicBezTo>
                  <a:pt x="11450267" y="0"/>
                  <a:pt x="11511082" y="60815"/>
                  <a:pt x="11511082" y="135834"/>
                </a:cubicBezTo>
                <a:lnTo>
                  <a:pt x="11511082" y="2868017"/>
                </a:lnTo>
                <a:cubicBezTo>
                  <a:pt x="11511082" y="2943036"/>
                  <a:pt x="11450267" y="3003851"/>
                  <a:pt x="11375248" y="3003851"/>
                </a:cubicBezTo>
                <a:lnTo>
                  <a:pt x="135834" y="3003851"/>
                </a:lnTo>
                <a:cubicBezTo>
                  <a:pt x="60815" y="3003851"/>
                  <a:pt x="0" y="2943036"/>
                  <a:pt x="0" y="2868017"/>
                </a:cubicBezTo>
                <a:lnTo>
                  <a:pt x="0" y="135834"/>
                </a:lnTo>
                <a:cubicBezTo>
                  <a:pt x="0" y="60865"/>
                  <a:pt x="60865" y="0"/>
                  <a:pt x="135834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882" y="3915703"/>
            <a:ext cx="803178" cy="803178"/>
          </a:xfrm>
          <a:custGeom>
            <a:avLst/>
            <a:gdLst/>
            <a:ahLst/>
            <a:cxnLst/>
            <a:rect l="l" t="t" r="r" b="b"/>
            <a:pathLst>
              <a:path w="803178" h="803178">
                <a:moveTo>
                  <a:pt x="401589" y="0"/>
                </a:moveTo>
                <a:lnTo>
                  <a:pt x="401589" y="0"/>
                </a:lnTo>
                <a:cubicBezTo>
                  <a:pt x="623232" y="0"/>
                  <a:pt x="803178" y="179946"/>
                  <a:pt x="803178" y="401589"/>
                </a:cubicBezTo>
                <a:lnTo>
                  <a:pt x="803178" y="401589"/>
                </a:lnTo>
                <a:cubicBezTo>
                  <a:pt x="803178" y="623232"/>
                  <a:pt x="623232" y="803178"/>
                  <a:pt x="401589" y="803178"/>
                </a:cubicBezTo>
                <a:lnTo>
                  <a:pt x="401589" y="803178"/>
                </a:lnTo>
                <a:cubicBezTo>
                  <a:pt x="179946" y="803178"/>
                  <a:pt x="0" y="623232"/>
                  <a:pt x="0" y="401589"/>
                </a:cubicBezTo>
                <a:lnTo>
                  <a:pt x="0" y="401589"/>
                </a:lnTo>
                <a:cubicBezTo>
                  <a:pt x="0" y="179946"/>
                  <a:pt x="179946" y="0"/>
                  <a:pt x="40158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2032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2798" y="4112677"/>
            <a:ext cx="305649" cy="407532"/>
          </a:xfrm>
          <a:custGeom>
            <a:avLst/>
            <a:gdLst/>
            <a:ahLst/>
            <a:cxnLst/>
            <a:rect l="l" t="t" r="r" b="b"/>
            <a:pathLst>
              <a:path w="305649" h="407532">
                <a:moveTo>
                  <a:pt x="233137" y="305649"/>
                </a:moveTo>
                <a:cubicBezTo>
                  <a:pt x="238947" y="287899"/>
                  <a:pt x="250569" y="271821"/>
                  <a:pt x="263702" y="257971"/>
                </a:cubicBezTo>
                <a:cubicBezTo>
                  <a:pt x="289730" y="230590"/>
                  <a:pt x="305649" y="193578"/>
                  <a:pt x="305649" y="152825"/>
                </a:cubicBezTo>
                <a:cubicBezTo>
                  <a:pt x="305649" y="68453"/>
                  <a:pt x="237196" y="0"/>
                  <a:pt x="152825" y="0"/>
                </a:cubicBezTo>
                <a:cubicBezTo>
                  <a:pt x="68453" y="0"/>
                  <a:pt x="0" y="68453"/>
                  <a:pt x="0" y="152825"/>
                </a:cubicBezTo>
                <a:cubicBezTo>
                  <a:pt x="0" y="193578"/>
                  <a:pt x="15919" y="230590"/>
                  <a:pt x="41947" y="257971"/>
                </a:cubicBezTo>
                <a:cubicBezTo>
                  <a:pt x="55081" y="271821"/>
                  <a:pt x="66781" y="287899"/>
                  <a:pt x="72512" y="305649"/>
                </a:cubicBezTo>
                <a:lnTo>
                  <a:pt x="233057" y="305649"/>
                </a:lnTo>
                <a:close/>
                <a:moveTo>
                  <a:pt x="229237" y="343855"/>
                </a:moveTo>
                <a:lnTo>
                  <a:pt x="76412" y="343855"/>
                </a:lnTo>
                <a:lnTo>
                  <a:pt x="76412" y="356591"/>
                </a:lnTo>
                <a:cubicBezTo>
                  <a:pt x="76412" y="391772"/>
                  <a:pt x="104908" y="420267"/>
                  <a:pt x="140089" y="420267"/>
                </a:cubicBezTo>
                <a:lnTo>
                  <a:pt x="165560" y="420267"/>
                </a:lnTo>
                <a:cubicBezTo>
                  <a:pt x="200741" y="420267"/>
                  <a:pt x="229237" y="391772"/>
                  <a:pt x="229237" y="356591"/>
                </a:cubicBezTo>
                <a:lnTo>
                  <a:pt x="229237" y="343855"/>
                </a:lnTo>
                <a:close/>
                <a:moveTo>
                  <a:pt x="146457" y="89148"/>
                </a:moveTo>
                <a:cubicBezTo>
                  <a:pt x="114778" y="89148"/>
                  <a:pt x="89148" y="114778"/>
                  <a:pt x="89148" y="146457"/>
                </a:cubicBezTo>
                <a:cubicBezTo>
                  <a:pt x="89148" y="157043"/>
                  <a:pt x="80631" y="165560"/>
                  <a:pt x="70045" y="165560"/>
                </a:cubicBezTo>
                <a:cubicBezTo>
                  <a:pt x="59458" y="165560"/>
                  <a:pt x="50942" y="157043"/>
                  <a:pt x="50942" y="146457"/>
                </a:cubicBezTo>
                <a:cubicBezTo>
                  <a:pt x="50942" y="93685"/>
                  <a:pt x="93685" y="50942"/>
                  <a:pt x="146457" y="50942"/>
                </a:cubicBezTo>
                <a:cubicBezTo>
                  <a:pt x="157043" y="50942"/>
                  <a:pt x="165560" y="59458"/>
                  <a:pt x="165560" y="70045"/>
                </a:cubicBezTo>
                <a:cubicBezTo>
                  <a:pt x="165560" y="80631"/>
                  <a:pt x="157043" y="89148"/>
                  <a:pt x="146457" y="8914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2"/>
          <p:cNvSpPr/>
          <p:nvPr/>
        </p:nvSpPr>
        <p:spPr>
          <a:xfrm>
            <a:off x="618090" y="4927745"/>
            <a:ext cx="4236635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NexTech Vision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18090" y="5369238"/>
            <a:ext cx="4185694" cy="99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believe every young person deserves a fair chance at employment. Our AI-powered platform democratizes access to career support, ensuring that capability—not circumstance—determines success.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999909" y="4181449"/>
            <a:ext cx="6578246" cy="1908608"/>
          </a:xfrm>
          <a:custGeom>
            <a:avLst/>
            <a:gdLst/>
            <a:ahLst/>
            <a:cxnLst/>
            <a:rect l="l" t="t" r="r" b="b"/>
            <a:pathLst>
              <a:path w="6578246" h="1908608">
                <a:moveTo>
                  <a:pt x="101882" y="0"/>
                </a:moveTo>
                <a:lnTo>
                  <a:pt x="6476365" y="0"/>
                </a:lnTo>
                <a:cubicBezTo>
                  <a:pt x="6532632" y="0"/>
                  <a:pt x="6578246" y="45614"/>
                  <a:pt x="6578246" y="101882"/>
                </a:cubicBezTo>
                <a:lnTo>
                  <a:pt x="6578246" y="1806727"/>
                </a:lnTo>
                <a:cubicBezTo>
                  <a:pt x="6578246" y="1862994"/>
                  <a:pt x="6532632" y="1908608"/>
                  <a:pt x="6476365" y="1908608"/>
                </a:cubicBezTo>
                <a:lnTo>
                  <a:pt x="101882" y="1908608"/>
                </a:lnTo>
                <a:cubicBezTo>
                  <a:pt x="45614" y="1908608"/>
                  <a:pt x="0" y="1862994"/>
                  <a:pt x="0" y="1806727"/>
                </a:cubicBezTo>
                <a:lnTo>
                  <a:pt x="0" y="101882"/>
                </a:lnTo>
                <a:cubicBezTo>
                  <a:pt x="0" y="45652"/>
                  <a:pt x="45652" y="0"/>
                  <a:pt x="10188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05188" y="4388610"/>
            <a:ext cx="3183844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0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46.1%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77355" y="4864068"/>
            <a:ext cx="303951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youth unemployment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287015" y="4388610"/>
            <a:ext cx="3183844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0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118K+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359182" y="4864068"/>
            <a:ext cx="303951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Unfilled tech jobs waiting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05188" y="5237639"/>
            <a:ext cx="3183844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0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4.8%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77355" y="5713093"/>
            <a:ext cx="303951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Matric graduates employed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87015" y="5237639"/>
            <a:ext cx="3183844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0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359182" y="5713093"/>
            <a:ext cx="303951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to bridge the gap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7d1.scene7.com/62b963f4101cf7fb8ed157642eb8938b28289876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3333" r="333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93901" y="152402"/>
            <a:ext cx="1205865" cy="1205865"/>
          </a:xfrm>
          <a:custGeom>
            <a:avLst/>
            <a:gdLst/>
            <a:ahLst/>
            <a:cxnLst/>
            <a:rect l="l" t="t" r="r" b="b"/>
            <a:pathLst>
              <a:path w="1205865" h="1205865">
                <a:moveTo>
                  <a:pt x="602933" y="0"/>
                </a:moveTo>
                <a:lnTo>
                  <a:pt x="602933" y="0"/>
                </a:lnTo>
                <a:cubicBezTo>
                  <a:pt x="935700" y="0"/>
                  <a:pt x="1205865" y="270165"/>
                  <a:pt x="1205865" y="602933"/>
                </a:cubicBezTo>
                <a:lnTo>
                  <a:pt x="1205865" y="602933"/>
                </a:lnTo>
                <a:cubicBezTo>
                  <a:pt x="1205865" y="935700"/>
                  <a:pt x="935700" y="1205865"/>
                  <a:pt x="602933" y="1205865"/>
                </a:cubicBezTo>
                <a:lnTo>
                  <a:pt x="602933" y="1205865"/>
                </a:lnTo>
                <a:cubicBezTo>
                  <a:pt x="270165" y="1205865"/>
                  <a:pt x="0" y="935700"/>
                  <a:pt x="0" y="602933"/>
                </a:cubicBezTo>
                <a:lnTo>
                  <a:pt x="0" y="602933"/>
                </a:lnTo>
                <a:cubicBezTo>
                  <a:pt x="0" y="270165"/>
                  <a:pt x="270165" y="0"/>
                  <a:pt x="60293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2032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74412" y="468632"/>
            <a:ext cx="642938" cy="571500"/>
          </a:xfrm>
          <a:custGeom>
            <a:avLst/>
            <a:gdLst/>
            <a:ahLst/>
            <a:cxnLst/>
            <a:rect l="l" t="t" r="r" b="b"/>
            <a:pathLst>
              <a:path w="642938" h="571500">
                <a:moveTo>
                  <a:pt x="300149" y="59382"/>
                </a:moveTo>
                <a:lnTo>
                  <a:pt x="169999" y="204043"/>
                </a:lnTo>
                <a:cubicBezTo>
                  <a:pt x="164864" y="209736"/>
                  <a:pt x="165088" y="218554"/>
                  <a:pt x="170557" y="224024"/>
                </a:cubicBezTo>
                <a:cubicBezTo>
                  <a:pt x="204601" y="258068"/>
                  <a:pt x="259854" y="258068"/>
                  <a:pt x="293898" y="224024"/>
                </a:cubicBezTo>
                <a:lnTo>
                  <a:pt x="329394" y="188528"/>
                </a:lnTo>
                <a:cubicBezTo>
                  <a:pt x="334082" y="183840"/>
                  <a:pt x="339998" y="181273"/>
                  <a:pt x="346025" y="180826"/>
                </a:cubicBezTo>
                <a:cubicBezTo>
                  <a:pt x="353616" y="180156"/>
                  <a:pt x="361429" y="182724"/>
                  <a:pt x="367233" y="188528"/>
                </a:cubicBezTo>
                <a:lnTo>
                  <a:pt x="564356" y="383977"/>
                </a:lnTo>
                <a:lnTo>
                  <a:pt x="642938" y="321469"/>
                </a:lnTo>
                <a:lnTo>
                  <a:pt x="642938" y="0"/>
                </a:lnTo>
                <a:lnTo>
                  <a:pt x="517922" y="71438"/>
                </a:lnTo>
                <a:lnTo>
                  <a:pt x="491356" y="53690"/>
                </a:lnTo>
                <a:cubicBezTo>
                  <a:pt x="473720" y="41970"/>
                  <a:pt x="453070" y="35719"/>
                  <a:pt x="431862" y="35719"/>
                </a:cubicBezTo>
                <a:lnTo>
                  <a:pt x="353281" y="35719"/>
                </a:lnTo>
                <a:cubicBezTo>
                  <a:pt x="352053" y="35719"/>
                  <a:pt x="350713" y="35719"/>
                  <a:pt x="349486" y="35830"/>
                </a:cubicBezTo>
                <a:cubicBezTo>
                  <a:pt x="330622" y="36835"/>
                  <a:pt x="312874" y="45318"/>
                  <a:pt x="300149" y="59382"/>
                </a:cubicBezTo>
                <a:close/>
                <a:moveTo>
                  <a:pt x="130150" y="168213"/>
                </a:moveTo>
                <a:lnTo>
                  <a:pt x="249362" y="35719"/>
                </a:lnTo>
                <a:lnTo>
                  <a:pt x="205160" y="35719"/>
                </a:lnTo>
                <a:cubicBezTo>
                  <a:pt x="176696" y="35719"/>
                  <a:pt x="149461" y="46992"/>
                  <a:pt x="129369" y="67084"/>
                </a:cubicBezTo>
                <a:lnTo>
                  <a:pt x="0" y="214313"/>
                </a:lnTo>
                <a:lnTo>
                  <a:pt x="0" y="607219"/>
                </a:lnTo>
                <a:lnTo>
                  <a:pt x="160734" y="455414"/>
                </a:lnTo>
                <a:lnTo>
                  <a:pt x="174575" y="466911"/>
                </a:lnTo>
                <a:cubicBezTo>
                  <a:pt x="200248" y="488342"/>
                  <a:pt x="232618" y="500063"/>
                  <a:pt x="265993" y="500063"/>
                </a:cubicBezTo>
                <a:lnTo>
                  <a:pt x="283518" y="500063"/>
                </a:lnTo>
                <a:lnTo>
                  <a:pt x="275704" y="492249"/>
                </a:lnTo>
                <a:cubicBezTo>
                  <a:pt x="265212" y="481757"/>
                  <a:pt x="265212" y="464790"/>
                  <a:pt x="275704" y="454409"/>
                </a:cubicBezTo>
                <a:cubicBezTo>
                  <a:pt x="286196" y="444029"/>
                  <a:pt x="303163" y="443917"/>
                  <a:pt x="313544" y="454409"/>
                </a:cubicBezTo>
                <a:lnTo>
                  <a:pt x="359308" y="500174"/>
                </a:lnTo>
                <a:lnTo>
                  <a:pt x="369354" y="500174"/>
                </a:lnTo>
                <a:cubicBezTo>
                  <a:pt x="390674" y="500174"/>
                  <a:pt x="411547" y="495374"/>
                  <a:pt x="430523" y="486445"/>
                </a:cubicBezTo>
                <a:lnTo>
                  <a:pt x="400720" y="456530"/>
                </a:lnTo>
                <a:cubicBezTo>
                  <a:pt x="390227" y="446038"/>
                  <a:pt x="390227" y="429071"/>
                  <a:pt x="400720" y="418691"/>
                </a:cubicBezTo>
                <a:cubicBezTo>
                  <a:pt x="411212" y="408310"/>
                  <a:pt x="428179" y="408198"/>
                  <a:pt x="438559" y="418691"/>
                </a:cubicBezTo>
                <a:lnTo>
                  <a:pt x="474278" y="454409"/>
                </a:lnTo>
                <a:lnTo>
                  <a:pt x="493812" y="434876"/>
                </a:lnTo>
                <a:cubicBezTo>
                  <a:pt x="503746" y="424942"/>
                  <a:pt x="506648" y="410542"/>
                  <a:pt x="502295" y="397929"/>
                </a:cubicBezTo>
                <a:lnTo>
                  <a:pt x="348369" y="245232"/>
                </a:lnTo>
                <a:lnTo>
                  <a:pt x="331738" y="261863"/>
                </a:lnTo>
                <a:cubicBezTo>
                  <a:pt x="276709" y="316892"/>
                  <a:pt x="187635" y="316892"/>
                  <a:pt x="132606" y="261863"/>
                </a:cubicBezTo>
                <a:cubicBezTo>
                  <a:pt x="106933" y="236190"/>
                  <a:pt x="105928" y="195002"/>
                  <a:pt x="130150" y="16810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4334113" y="1668782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34126" y="2583182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863572" y="3691892"/>
            <a:ext cx="6465570" cy="1962166"/>
          </a:xfrm>
          <a:custGeom>
            <a:avLst/>
            <a:gdLst/>
            <a:ahLst/>
            <a:cxnLst/>
            <a:rect l="l" t="t" r="r" b="b"/>
            <a:pathLst>
              <a:path w="6465570" h="1962166">
                <a:moveTo>
                  <a:pt x="152403" y="0"/>
                </a:moveTo>
                <a:lnTo>
                  <a:pt x="6313167" y="0"/>
                </a:lnTo>
                <a:cubicBezTo>
                  <a:pt x="6397337" y="0"/>
                  <a:pt x="6465570" y="56496"/>
                  <a:pt x="6465570" y="126187"/>
                </a:cubicBezTo>
                <a:lnTo>
                  <a:pt x="6465570" y="1835979"/>
                </a:lnTo>
                <a:cubicBezTo>
                  <a:pt x="6465570" y="1905670"/>
                  <a:pt x="6397337" y="1962166"/>
                  <a:pt x="6313167" y="1962166"/>
                </a:cubicBezTo>
                <a:lnTo>
                  <a:pt x="152403" y="1962166"/>
                </a:lnTo>
                <a:cubicBezTo>
                  <a:pt x="68233" y="1962166"/>
                  <a:pt x="0" y="1905670"/>
                  <a:pt x="0" y="1835979"/>
                </a:cubicBezTo>
                <a:lnTo>
                  <a:pt x="0" y="126187"/>
                </a:lnTo>
                <a:cubicBezTo>
                  <a:pt x="0" y="56542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8139" y="4000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70064" y="41910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3138845" y="472440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29320" y="495300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NexTech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10896" y="42291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9525" y="0"/>
                </a:lnTo>
                <a:lnTo>
                  <a:pt x="9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5033963" y="4019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238750" y="4210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4744283" y="474345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39521" y="497205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Mohau Mphanya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609993" y="4019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814781" y="4210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7"/>
          <p:cNvSpPr/>
          <p:nvPr/>
        </p:nvSpPr>
        <p:spPr>
          <a:xfrm>
            <a:off x="6319004" y="497205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Sive Mtengwana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169831" y="4019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374618" y="4210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7891582" y="497205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Lesedi Ledwaba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10708" y="5524500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24413" y="594479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Together, we can bridge the gap.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Youth Unemployment in South Africa</dc:title>
  <dc:subject>Addressing Youth Unemployment in South Africa</dc:subject>
  <dc:creator>Kimi</dc:creator>
  <cp:lastModifiedBy>Kimi</cp:lastModifiedBy>
  <cp:revision>1</cp:revision>
  <dcterms:created xsi:type="dcterms:W3CDTF">2026-03-31T20:23:27Z</dcterms:created>
  <dcterms:modified xsi:type="dcterms:W3CDTF">2026-03-31T20:23:27Z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{"Label":"Addressing Youth Unemployment in South Africa","ContentProducer":"001191110108MACG2KBH8F10000","ProduceID":"19d458c6-f0e2-82e4-8000-000081262635","ReservedCode1":"","ContentPropagator":"001191110108MACG2KBH8F20000","PropagateID":"19d458c6-f0e2-82e4-8000-000081262635","ReservedCode2":""}</vt:lpwstr>
  </property>
</Properties>
</file>