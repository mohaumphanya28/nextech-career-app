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nextech-ppt/image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317950" y="1104454"/>
            <a:ext cx="507950" cy="381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396454"/>
            <a:ext cx="8595211" cy="526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Addressing Youth Unemployment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74320" y="1985665"/>
            <a:ext cx="8595211" cy="526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spcAft>
                <a:spcPts val="1600"/>
              </a:spcAft>
              <a:buNone/>
            </a:pPr>
            <a:r>
              <a:rPr lang="en-US" sz="32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South Africa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317950" y="2676525"/>
            <a:ext cx="507950" cy="381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34378" y="2968526"/>
            <a:ext cx="5875094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2400"/>
              </a:spcAft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NexTech Career App — AI-Powered Mobile Career Support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02681" y="3557736"/>
            <a:ext cx="5538639" cy="226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NexTech Group  ·  Mohau Mphanya  ·  Sive Mtengwana  ·  Lesedi Ledwaba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57667" y="3843486"/>
            <a:ext cx="5228518" cy="211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Technopreneurship NTEC62110  |  Sol Plaatje University  |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3324701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Crisis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60277"/>
            <a:ext cx="1879550" cy="1461343"/>
          </a:xfrm>
          <a:prstGeom prst="roundRect">
            <a:avLst>
              <a:gd name="adj" fmla="val 8691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0857" y="1523702"/>
            <a:ext cx="2077036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46.1%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61367" y="2031653"/>
            <a:ext cx="1776017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Youth Unemployed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6851" y="1260277"/>
            <a:ext cx="1879550" cy="1461343"/>
          </a:xfrm>
          <a:prstGeom prst="roundRect">
            <a:avLst>
              <a:gd name="adj" fmla="val 8691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28312" y="1523702"/>
            <a:ext cx="1956628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~60%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73465" y="2031653"/>
            <a:ext cx="1866323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Ages 15-24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4102" y="1260277"/>
            <a:ext cx="1879550" cy="1461343"/>
          </a:xfrm>
          <a:prstGeom prst="roundRect">
            <a:avLst>
              <a:gd name="adj" fmla="val 8691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25359" y="1523702"/>
            <a:ext cx="2077036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4.8%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873701" y="2031653"/>
            <a:ext cx="158035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Matric Grads Employed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81354" y="1260277"/>
            <a:ext cx="1879550" cy="1461343"/>
          </a:xfrm>
          <a:prstGeom prst="roundRect">
            <a:avLst>
              <a:gd name="adj" fmla="val 8691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42814" y="1523702"/>
            <a:ext cx="1956628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118K+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33120" y="2031653"/>
            <a:ext cx="1776017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Unfilled Tech Jobs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600" y="2924770"/>
            <a:ext cx="3873550" cy="990600"/>
          </a:xfrm>
          <a:prstGeom prst="rect">
            <a:avLst/>
          </a:prstGeom>
          <a:solidFill>
            <a:srgbClr val="6366F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8650" y="2924770"/>
            <a:ext cx="0" cy="99060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850" y="3077170"/>
            <a:ext cx="360060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Youth unemployment in SA has reached crisis levels, threatening social stability and economic growth for an entire generation.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0850" y="2924770"/>
            <a:ext cx="3873550" cy="990600"/>
          </a:xfrm>
          <a:prstGeom prst="rect">
            <a:avLst/>
          </a:prstGeom>
          <a:solidFill>
            <a:srgbClr val="14B8A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79900" y="2924770"/>
            <a:ext cx="0" cy="99060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2101" y="3077170"/>
            <a:ext cx="360060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Millions of young South Africans lack access to digital tools, professional networks, and career guidance needed to compete.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550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EMPATHISE — 5 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584150"/>
            <a:ext cx="2684603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Our Research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1158776"/>
            <a:ext cx="3810000" cy="2514749"/>
          </a:xfrm>
          <a:prstGeom prst="roundRect">
            <a:avLst>
              <a:gd name="adj" fmla="val 5050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7725" y="1371451"/>
            <a:ext cx="366712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Primary Research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7725" y="1682502"/>
            <a:ext cx="3333750" cy="188504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15 in-depth interviews with unemployed youth aged 18-35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Recruitment agent insights from hiring processes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Career counsellor perspectives on guidance gaps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Focus groups in Kimberley township areas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825925"/>
            <a:ext cx="3810000" cy="1752600"/>
          </a:xfrm>
          <a:prstGeom prst="roundRect">
            <a:avLst>
              <a:gd name="adj" fmla="val 7246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725" y="4038600"/>
            <a:ext cx="366712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Secondary Research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7725" y="4349651"/>
            <a:ext cx="3333750" cy="79384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Stats SA quarterly labour force surveys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News articles on youth employment crisis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Social media sentiment analysis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Academic research on SA job market barriers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22750" y="1158776"/>
            <a:ext cx="3810000" cy="2006650"/>
          </a:xfrm>
          <a:prstGeom prst="roundRect">
            <a:avLst>
              <a:gd name="adj" fmla="val 6329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60875" y="1371451"/>
            <a:ext cx="386715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0875" y="1682502"/>
            <a:ext cx="3333750" cy="134646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87%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don't know how to write a professional CV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92%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have no interview preparation resources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73%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rely solely on mobile phones for internet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65%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find existing platforms confusing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2750" y="3317825"/>
            <a:ext cx="3810000" cy="1047452"/>
          </a:xfrm>
          <a:prstGeom prst="roundRect">
            <a:avLst>
              <a:gd name="adj" fmla="val 12125"/>
            </a:avLst>
          </a:prstGeom>
          <a:solidFill>
            <a:srgbClr val="6366F1">
              <a:alpha val="10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60875" y="3505051"/>
            <a:ext cx="350043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"I know I can do the job, but I don't know how to show it on paper. Every time I apply online, I feel invisible."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0875" y="4025652"/>
            <a:ext cx="3667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 Thabo, 24, Kimberley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EMPATHISE — 5 MARKS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2661166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Empathy 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09526"/>
            <a:ext cx="1879550" cy="2422624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228576"/>
            <a:ext cx="187955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1425327"/>
            <a:ext cx="204717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1726853"/>
            <a:ext cx="1574750" cy="183125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"I don't know how to write a CV"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"Online applications are too complicated"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"No one calls me back"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"I can't afford data to browse jobs"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41550" y="1209526"/>
            <a:ext cx="1879550" cy="2422624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41550" y="1228576"/>
            <a:ext cx="187955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3950" y="1425327"/>
            <a:ext cx="204717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THINKS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93950" y="1726853"/>
            <a:ext cx="1574750" cy="160234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"I'm not good enough"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"The system is rigged against me"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"Education didn't prepare me for this"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"I'll never escape unemployment"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73501" y="1209526"/>
            <a:ext cx="1879550" cy="2422624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73501" y="1228576"/>
            <a:ext cx="187955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5901" y="1425327"/>
            <a:ext cx="204717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5901" y="1726853"/>
            <a:ext cx="1574750" cy="183125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Applies to dozens of jobs with same CV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Asks friends for help with applications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Gives up after multiple rejections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Borrows money for internet cafe visits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05451" y="1209526"/>
            <a:ext cx="1879550" cy="2422624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705451" y="1228576"/>
            <a:ext cx="187955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7851" y="1425327"/>
            <a:ext cx="204717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7851" y="1726853"/>
            <a:ext cx="1574750" cy="183125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Frustrated by constant rejection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Overwhelmed by complex processes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Hopeless about future prospects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Embarrassed to ask for help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&amp;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5407372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Numbers Behind the Crisis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60277"/>
            <a:ext cx="1879550" cy="2096542"/>
          </a:xfrm>
          <a:prstGeom prst="roundRect">
            <a:avLst>
              <a:gd name="adj" fmla="val 6757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0857" y="1498402"/>
            <a:ext cx="2077036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46.1%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59198" y="1980902"/>
            <a:ext cx="15803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Youth Unemployment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9198" y="2336453"/>
            <a:ext cx="1580354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Q1 2024 — among the highest globally. Over 4.9 million young South Africans seeking work.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66851" y="1260277"/>
            <a:ext cx="1879550" cy="2096542"/>
          </a:xfrm>
          <a:prstGeom prst="roundRect">
            <a:avLst>
              <a:gd name="adj" fmla="val 6757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68108" y="1498402"/>
            <a:ext cx="2077036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73%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816449" y="1980902"/>
            <a:ext cx="15803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Mobile-Only Internet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16449" y="2336453"/>
            <a:ext cx="1580354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majority of SA youth access the internet exclusively via mobile phones.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24102" y="1260277"/>
            <a:ext cx="1879550" cy="2096542"/>
          </a:xfrm>
          <a:prstGeom prst="roundRect">
            <a:avLst>
              <a:gd name="adj" fmla="val 6757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25359" y="1498402"/>
            <a:ext cx="2077036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87%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73701" y="1980902"/>
            <a:ext cx="15803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Cannot Write Professional CVs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01" y="2336453"/>
            <a:ext cx="1580354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vast majority of young job seekers have never received CV writing guidance.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1354" y="1260277"/>
            <a:ext cx="1879550" cy="2096542"/>
          </a:xfrm>
          <a:prstGeom prst="roundRect">
            <a:avLst>
              <a:gd name="adj" fmla="val 6757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82611" y="1498402"/>
            <a:ext cx="2077036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92%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930952" y="1980902"/>
            <a:ext cx="15803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Interview Preparation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30952" y="2336453"/>
            <a:ext cx="1580354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Almost all respondents reported zero access to interview coaching or mock interviews.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PROBLEM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4701451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Understanding the Barriers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184077"/>
            <a:ext cx="7924800" cy="1072604"/>
          </a:xfrm>
          <a:prstGeom prst="roundRect">
            <a:avLst>
              <a:gd name="adj" fmla="val 11840"/>
            </a:avLst>
          </a:prstGeom>
          <a:solidFill>
            <a:srgbClr val="6366F1">
              <a:alpha val="10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1190" y="1371302"/>
            <a:ext cx="85816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8077" y="1574453"/>
            <a:ext cx="7767846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South African youth face a systemic barrier to employment: they lack access to professional career development tools, guidance, and resources essential for competing in the modern job market.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434382"/>
            <a:ext cx="2539901" cy="1679377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8650" y="2434382"/>
            <a:ext cx="0" cy="1679377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850" y="2612082"/>
            <a:ext cx="247269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Skills Presentation Gap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850" y="2888307"/>
            <a:ext cx="2200275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Youth cannot effectively present their skills and qualifications to employers. CVs are poorly structured and fail to highlight relevant competencies.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27202" y="2434382"/>
            <a:ext cx="2539901" cy="1679377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46252" y="2434382"/>
            <a:ext cx="0" cy="1679377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8452" y="2612082"/>
            <a:ext cx="247269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Digital Access Divide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8452" y="2888307"/>
            <a:ext cx="2200275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Desktop-only solutions exclude the 73% who rely solely on mobile. Data-heavy platforms are unusable on limited prepaid data bundles.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44803" y="2434382"/>
            <a:ext cx="2539901" cy="1679377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63853" y="2434382"/>
            <a:ext cx="0" cy="1679377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6054" y="2612082"/>
            <a:ext cx="259842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Guidance Void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86054" y="2888307"/>
            <a:ext cx="2200275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access to interview coaching, career counselling, or professional mentorship. Young job seekers navigate the process entirely alone.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nextech-ppt/images/divid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355550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DEFINE — 10 MARKS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09600" y="584150"/>
            <a:ext cx="8534400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9600" y="1133326"/>
            <a:ext cx="7924800" cy="1105793"/>
          </a:xfrm>
          <a:prstGeom prst="roundRect">
            <a:avLst>
              <a:gd name="adj" fmla="val 11485"/>
            </a:avLst>
          </a:prstGeom>
          <a:solidFill>
            <a:srgbClr val="6366F1">
              <a:alpha val="12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73026" y="1320552"/>
            <a:ext cx="7767846" cy="78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"Young South Africans aged 18-35 who are actively seeking employment lack accessible, mobile-friendly tools to create professional application materials, prepare for interviews, and navigate career pathways — resulting in systemic exclusion from the formal job market despite available opportunities."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600" y="2416820"/>
            <a:ext cx="8534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FIVE WHYS — Root Cause 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9600" y="2743795"/>
            <a:ext cx="37159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 Why are youth unemployed?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05051" y="2743795"/>
            <a:ext cx="3718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They cannot effectively compete for available positions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9600" y="2972395"/>
            <a:ext cx="37159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2. Why can't they compete?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05051" y="2972395"/>
            <a:ext cx="41477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They lack professional CVs, cover letters, and interview skills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9600" y="3200995"/>
            <a:ext cx="37159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3. Why do they lack these?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505051" y="3200995"/>
            <a:ext cx="43704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access to career guidance or professional development tools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9600" y="3429595"/>
            <a:ext cx="37159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4. Why no access?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05051" y="3429595"/>
            <a:ext cx="41541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Existing solutions are desktop-only, expensive, or data-heavy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9600" y="3658195"/>
            <a:ext cx="37159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5. Why mobile-only solutions fail?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05051" y="3658195"/>
            <a:ext cx="4856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market has ignored mobile-first, data-light career tools for SA youth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USER PERSPECTIVE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4942433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Pain Points from the Ground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09526"/>
            <a:ext cx="1879550" cy="1736527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228576"/>
            <a:ext cx="1879550" cy="0"/>
          </a:xfrm>
          <a:prstGeom prst="line">
            <a:avLst/>
          </a:prstGeom>
          <a:noFill/>
          <a:ln w="38100">
            <a:solidFill>
              <a:srgbClr val="FB2C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1425327"/>
            <a:ext cx="185820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Application Fatigue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1701552"/>
            <a:ext cx="165348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"I've applied to over 100 jobs and heard back from none."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2000" y="2406402"/>
            <a:ext cx="19526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 Sive, 22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41550" y="1209526"/>
            <a:ext cx="1879550" cy="1736527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41550" y="1228576"/>
            <a:ext cx="187955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3950" y="1425327"/>
            <a:ext cx="195269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CV Blindness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93950" y="1701552"/>
            <a:ext cx="16534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"I don't know what employers want to see. My CV looks the same as everyone else's."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93950" y="2615952"/>
            <a:ext cx="19526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 Naledi, 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3501" y="1209526"/>
            <a:ext cx="1879550" cy="1736527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73501" y="1228576"/>
            <a:ext cx="187955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5901" y="1425327"/>
            <a:ext cx="185820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Interview Anxiety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5901" y="1701552"/>
            <a:ext cx="16534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"I've never had a professional interview. When I finally got one, I froze completely."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5901" y="2615952"/>
            <a:ext cx="19526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 Thabo, 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05451" y="1209526"/>
            <a:ext cx="1879550" cy="1736527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705451" y="1228576"/>
            <a:ext cx="187955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7851" y="1425327"/>
            <a:ext cx="185820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Digital Exclusion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7851" y="1701552"/>
            <a:ext cx="16534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"Everything wants a laptop. I only have my phone and R20 data that lasts 2 days."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7851" y="2615952"/>
            <a:ext cx="19526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 Karabo, 21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600" y="3123754"/>
            <a:ext cx="7924800" cy="664071"/>
          </a:xfrm>
          <a:prstGeom prst="roundRect">
            <a:avLst>
              <a:gd name="adj" fmla="val 15300"/>
            </a:avLst>
          </a:prstGeom>
          <a:solidFill>
            <a:srgbClr val="14B8A6">
              <a:alpha val="10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2275" y="3260229"/>
            <a:ext cx="787442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TAKEAWAY: Young South Africans are not lazy or unqualified — they are systematically underserved by existing career development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CURRENT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5528191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Existing Solutions &amp; Their Gaps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09526"/>
            <a:ext cx="3810000" cy="1016347"/>
          </a:xfrm>
          <a:prstGeom prst="roundRect">
            <a:avLst>
              <a:gd name="adj" fmla="val 12496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275" y="1396752"/>
            <a:ext cx="4129272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LinkedIn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275" y="1647527"/>
            <a:ext cx="355388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Professional networking — desktop-centric, data-heavy, Western-oriented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2352824"/>
            <a:ext cx="3810000" cy="1016347"/>
          </a:xfrm>
          <a:prstGeom prst="roundRect">
            <a:avLst>
              <a:gd name="adj" fmla="val 12496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275" y="2540050"/>
            <a:ext cx="372311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Indeed / CareerJunction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275" y="2790825"/>
            <a:ext cx="355388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Job search engines — focus on listing, not preparation or guidance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3496121"/>
            <a:ext cx="3810000" cy="1016347"/>
          </a:xfrm>
          <a:prstGeom prst="roundRect">
            <a:avLst>
              <a:gd name="adj" fmla="val 12496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3683347"/>
            <a:ext cx="372311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Government Youth Programmes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275" y="3934123"/>
            <a:ext cx="355388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NYDA, YES Programme — limited reach, bureaucratic, no digital 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7301" y="1209526"/>
            <a:ext cx="41910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Limitations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7301" y="159990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B2C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75002" y="1536502"/>
            <a:ext cx="381391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 Mobile-First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Desktop interfaces exclude 73% of target audience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7301" y="215339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B2C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75002" y="2089993"/>
            <a:ext cx="381391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AI Guidance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No personalised career advice or interview prep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7301" y="270688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B2C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5002" y="2643485"/>
            <a:ext cx="3727862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Data-Heavy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Unusable on prepaid data bundles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97301" y="304710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B2C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5002" y="2983706"/>
            <a:ext cx="381391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 Context Ignored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No localisation for SA job market norms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6207591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Where Others Fall Short, We Step 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09526"/>
            <a:ext cx="1879550" cy="1927027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228576"/>
            <a:ext cx="187955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1425327"/>
            <a:ext cx="165348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Mobile-First AI 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1901577"/>
            <a:ext cx="16534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 professional CVs, cover letters, and prepare for interviews — all from a mobile phone.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41550" y="1209526"/>
            <a:ext cx="1879550" cy="1927027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41550" y="1228576"/>
            <a:ext cx="187955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3950" y="1425327"/>
            <a:ext cx="165348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 Market Localised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93950" y="1901577"/>
            <a:ext cx="1653488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Designed specifically for South African job market norms and unique challenges faced by SA youth.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73501" y="1209526"/>
            <a:ext cx="1879550" cy="1927027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73501" y="1228576"/>
            <a:ext cx="187955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5901" y="1425327"/>
            <a:ext cx="165348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Data-Light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5901" y="1901577"/>
            <a:ext cx="1653488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Optimised for low-bandwidth environments with offline capabilities. Works on R20 prepaid data.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05451" y="1209526"/>
            <a:ext cx="1879550" cy="1927027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705451" y="1228576"/>
            <a:ext cx="187955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7851" y="1425327"/>
            <a:ext cx="185820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Personalisation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7851" y="1701552"/>
            <a:ext cx="1653488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Intelligent resume analysis, interview coaching, and career pathway recommendations tailored to each user.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3314254"/>
            <a:ext cx="7924800" cy="867221"/>
          </a:xfrm>
          <a:prstGeom prst="roundRect">
            <a:avLst>
              <a:gd name="adj" fmla="val 11716"/>
            </a:avLst>
          </a:prstGeom>
          <a:solidFill>
            <a:srgbClr val="6366F1">
              <a:alpha val="10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3450729"/>
            <a:ext cx="8249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CRITICAL GAP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275" y="3653879"/>
            <a:ext cx="787442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existing solution combines mobile-first design, AI-powered career tools, data-light architecture, and South African localisation in a single platform. NexTech fills this gap.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IDEATE — 10 MARKS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3611463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 Solutions Explored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09526"/>
            <a:ext cx="1498550" cy="1721941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228576"/>
            <a:ext cx="1498550" cy="0"/>
          </a:xfrm>
          <a:prstGeom prst="line">
            <a:avLst/>
          </a:prstGeom>
          <a:noFill/>
          <a:ln w="38100">
            <a:solidFill>
              <a:srgbClr val="FB2C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550" y="1400026"/>
            <a:ext cx="16180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DISCARDED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6550" y="1603177"/>
            <a:ext cx="130688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WhatsApp Chatbot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6550" y="1996827"/>
            <a:ext cx="1306882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Limited formatting, no document generation, poor UX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60550" y="1209526"/>
            <a:ext cx="1498550" cy="1721941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260550" y="1228576"/>
            <a:ext cx="1498550" cy="0"/>
          </a:xfrm>
          <a:prstGeom prst="line">
            <a:avLst/>
          </a:prstGeom>
          <a:noFill/>
          <a:ln w="38100">
            <a:solidFill>
              <a:srgbClr val="FB2C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7501" y="1400026"/>
            <a:ext cx="16180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DISCARDED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87501" y="1603177"/>
            <a:ext cx="146868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Web-Only Portal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87501" y="1825377"/>
            <a:ext cx="1306882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Excludes 73% mobile-only users, requires broadband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11501" y="1209526"/>
            <a:ext cx="1498550" cy="1721941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11501" y="1228576"/>
            <a:ext cx="1498550" cy="0"/>
          </a:xfrm>
          <a:prstGeom prst="line">
            <a:avLst/>
          </a:prstGeom>
          <a:noFill/>
          <a:ln w="38100">
            <a:solidFill>
              <a:srgbClr val="FB2C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8451" y="1400026"/>
            <a:ext cx="16180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DISCARDED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38451" y="1603177"/>
            <a:ext cx="130688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Physical Workshops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38451" y="1996827"/>
            <a:ext cx="1306882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Scalability issues, high cost, geographic limitations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62451" y="1209526"/>
            <a:ext cx="1498550" cy="1721941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562451" y="1228576"/>
            <a:ext cx="1498550" cy="0"/>
          </a:xfrm>
          <a:prstGeom prst="line">
            <a:avLst/>
          </a:prstGeom>
          <a:noFill/>
          <a:ln w="38100">
            <a:solidFill>
              <a:srgbClr val="FB2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9402" y="1400026"/>
            <a:ext cx="16180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DISCARDED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89402" y="1603177"/>
            <a:ext cx="130688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SMS-Based 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89402" y="1996827"/>
            <a:ext cx="1306882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Too limited for CV generation, no multimedia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13402" y="1209526"/>
            <a:ext cx="1498550" cy="1721941"/>
          </a:xfrm>
          <a:prstGeom prst="roundRect">
            <a:avLst>
              <a:gd name="adj" fmla="val 6780"/>
            </a:avLst>
          </a:prstGeom>
          <a:solidFill>
            <a:srgbClr val="14B8A6">
              <a:alpha val="12000"/>
            </a:srgbClr>
          </a:solidFill>
          <a:ln w="19050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59402" y="1380976"/>
            <a:ext cx="15685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SELECTED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59402" y="1584127"/>
            <a:ext cx="1266877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NexTech Career App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59402" y="1977777"/>
            <a:ext cx="1266877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Mobile-first, AI-powered, data-light, SA-localised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600" y="3083868"/>
            <a:ext cx="7924800" cy="664071"/>
          </a:xfrm>
          <a:prstGeom prst="roundRect">
            <a:avLst>
              <a:gd name="adj" fmla="val 15300"/>
            </a:avLst>
          </a:prstGeom>
          <a:solidFill>
            <a:srgbClr val="14B8A6">
              <a:alpha val="8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2275" y="3220343"/>
            <a:ext cx="787442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NexTech Career App was selected because it uniquely addresses all four critical barriers: mobile accessibility, AI-powered guidance, data-light architecture, and South African localisation.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3852624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NexTech Career 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09526"/>
            <a:ext cx="2438400" cy="2050852"/>
          </a:xfrm>
          <a:prstGeom prst="roundRect">
            <a:avLst>
              <a:gd name="adj" fmla="val 6193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275" y="1422202"/>
            <a:ext cx="24961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Resume Builder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275" y="1761827"/>
            <a:ext cx="211370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AI-powered resume creation with professional templates, step-by-step guidance, and ATS optimisation. Build a standout CV in minutes.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25701" y="1209526"/>
            <a:ext cx="2438400" cy="2050852"/>
          </a:xfrm>
          <a:prstGeom prst="roundRect">
            <a:avLst>
              <a:gd name="adj" fmla="val 6193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38376" y="1422202"/>
            <a:ext cx="211370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Cover Letter Generator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38376" y="1999952"/>
            <a:ext cx="211370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Personalised cover letters tailored to each job application. AI analyses job descriptions and crafts targeted, compelling letters.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1802" y="1209526"/>
            <a:ext cx="2438400" cy="2050852"/>
          </a:xfrm>
          <a:prstGeom prst="roundRect">
            <a:avLst>
              <a:gd name="adj" fmla="val 6193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54477" y="1422202"/>
            <a:ext cx="23753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Interview Coach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54477" y="1761827"/>
            <a:ext cx="211370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Practice interviews with AI-powered coaching. Get real-time feedback on answers and confidence-building exercises.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41327" y="3438079"/>
            <a:ext cx="1197471" cy="304800"/>
          </a:xfrm>
          <a:prstGeom prst="roundRect">
            <a:avLst>
              <a:gd name="adj" fmla="val 83333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44477" y="3514279"/>
            <a:ext cx="981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Mobile-First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91198" y="3438079"/>
            <a:ext cx="1096566" cy="304800"/>
          </a:xfrm>
          <a:prstGeom prst="roundRect">
            <a:avLst>
              <a:gd name="adj" fmla="val 83333"/>
            </a:avLst>
          </a:prstGeom>
          <a:solidFill>
            <a:srgbClr val="6366F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94348" y="3514279"/>
            <a:ext cx="85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Data-Light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0163" y="3438079"/>
            <a:ext cx="1174254" cy="304800"/>
          </a:xfrm>
          <a:prstGeom prst="roundRect">
            <a:avLst>
              <a:gd name="adj" fmla="val 83333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43314" y="3514279"/>
            <a:ext cx="9522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AI-Powered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6817" y="3438079"/>
            <a:ext cx="1135856" cy="304800"/>
          </a:xfrm>
          <a:prstGeom prst="roundRect">
            <a:avLst>
              <a:gd name="adj" fmla="val 83333"/>
            </a:avLst>
          </a:prstGeom>
          <a:solidFill>
            <a:srgbClr val="6366F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69968" y="3514279"/>
            <a:ext cx="904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Accessible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3360" y="3869829"/>
            <a:ext cx="86360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AI-powered career support in your pocket — built for South African youth, by South African youth.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5131356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Detailed Feature Walkthrough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09526"/>
            <a:ext cx="2438400" cy="2648099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228576"/>
            <a:ext cx="243840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7301" y="1425327"/>
            <a:ext cx="258291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Resume Builder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7301" y="1736378"/>
            <a:ext cx="2082998" cy="206015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AI-powered content suggestions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Professional ATS-optimised templates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Step-by-step guided CV creation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Real-time quality scoring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Export to PDF from mobile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Multiple CV versions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25701" y="1209526"/>
            <a:ext cx="2438400" cy="2648099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25701" y="1228576"/>
            <a:ext cx="24384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3402" y="1425327"/>
            <a:ext cx="24579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Cover Letter Generator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03402" y="1736378"/>
            <a:ext cx="2082998" cy="183125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analyses job postings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Personalised letters matching skills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Professional tone auto-applied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One-tap generation + edit option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Saved templates for quick use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Industry-specific keywords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41802" y="1209526"/>
            <a:ext cx="2438400" cy="2648099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841802" y="1228576"/>
            <a:ext cx="243840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9502" y="1425327"/>
            <a:ext cx="24579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Interview Coach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19502" y="1736378"/>
            <a:ext cx="2082998" cy="206015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Voice-powered mock interviews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Real-time AI feedback on responses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Industry-specific question banks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Body language tips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Confidence-building exercises</a:t>
            </a:r>
            <a:endParaRPr lang="en-US" sz="1100" dirty="0"/>
          </a:p>
          <a:p>
            <a:pPr algn="l" marL="88900" indent="-88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Progress tracking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PROTOTYPE — 10 MARKS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4169226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Prototype &amp; Technology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184077"/>
            <a:ext cx="405119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55852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301" y="1495127"/>
            <a:ext cx="3356923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Frontend: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Next.js 16 + React 19 + 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183028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7301" y="1766888"/>
            <a:ext cx="264778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Styling: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Tailwind CSS 4 + shadcn/ui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600" y="210204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7301" y="2038648"/>
            <a:ext cx="3291242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Backend: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Next.js API Routes + Prisma 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37380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7301" y="2310408"/>
            <a:ext cx="3108073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Engine: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OpenAI GPT-4 + Whisper ASR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" y="264556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7301" y="2582168"/>
            <a:ext cx="2984614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Database: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SQLite (data-light) via Prisma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291732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7301" y="2853928"/>
            <a:ext cx="3277192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Deployment: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Vercel (CDN-optimised for SA)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70202" y="1184077"/>
            <a:ext cx="467379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User Flow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70202" y="1495127"/>
            <a:ext cx="3936950" cy="994470"/>
          </a:xfrm>
          <a:prstGeom prst="roundRect">
            <a:avLst>
              <a:gd name="adj" fmla="val 10217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57427" y="1657052"/>
            <a:ext cx="3740624" cy="72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Sign Up → Onboarding → Dashboard → Choose Tool → Build / Prepare → Review → Export / Practice → Track Progress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70202" y="2591098"/>
            <a:ext cx="413379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Each step is optimised for mobile screens, minimal data usage, and intuitive navigation with progressive disclosure.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70202" y="3159919"/>
            <a:ext cx="43306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70202" y="3470970"/>
            <a:ext cx="1095970" cy="279202"/>
          </a:xfrm>
          <a:prstGeom prst="roundRect">
            <a:avLst>
              <a:gd name="adj" fmla="val 72779"/>
            </a:avLst>
          </a:prstGeom>
          <a:solidFill>
            <a:srgbClr val="6366F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22602" y="3534370"/>
            <a:ext cx="981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Mobile-First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7673" y="3470970"/>
            <a:ext cx="995065" cy="279202"/>
          </a:xfrm>
          <a:prstGeom prst="roundRect">
            <a:avLst>
              <a:gd name="adj" fmla="val 72779"/>
            </a:avLst>
          </a:prstGeom>
          <a:solidFill>
            <a:srgbClr val="14B8A6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20073" y="3534370"/>
            <a:ext cx="85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Data-Light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4238" y="3470970"/>
            <a:ext cx="1034355" cy="279202"/>
          </a:xfrm>
          <a:prstGeom prst="roundRect">
            <a:avLst>
              <a:gd name="adj" fmla="val 72779"/>
            </a:avLst>
          </a:prstGeom>
          <a:solidFill>
            <a:srgbClr val="6366F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16638" y="3534370"/>
            <a:ext cx="904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Accessible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COMPETITIVE ADVANTAGE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362081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Why NexTech Wins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09526"/>
            <a:ext cx="3810000" cy="3071813"/>
          </a:xfrm>
          <a:prstGeom prst="roundRect">
            <a:avLst>
              <a:gd name="adj" fmla="val 4134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7725" y="1422202"/>
            <a:ext cx="366712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Current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7725" y="1793677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3051" y="1793677"/>
            <a:ext cx="17214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Desktop-only interfaces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7725" y="2090738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3051" y="2090738"/>
            <a:ext cx="235046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Data-heavy, requires broadband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7725" y="2387798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3051" y="2387798"/>
            <a:ext cx="1804115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AI-powered guidance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7725" y="2684859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3051" y="2684859"/>
            <a:ext cx="1858732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Generic, not SA-localised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7725" y="2981920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3051" y="2981920"/>
            <a:ext cx="17855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interview preparation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7725" y="3278981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3051" y="3278981"/>
            <a:ext cx="2087562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Expensive premium features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7725" y="3576042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3051" y="3576042"/>
            <a:ext cx="203241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Complex, overwhelming UX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7725" y="3873103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B2C3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3051" y="3873103"/>
            <a:ext cx="1608653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offline functionality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22750" y="1209526"/>
            <a:ext cx="3810000" cy="3071813"/>
          </a:xfrm>
          <a:prstGeom prst="roundRect">
            <a:avLst>
              <a:gd name="adj" fmla="val 4134"/>
            </a:avLst>
          </a:prstGeom>
          <a:solidFill>
            <a:srgbClr val="262626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60875" y="1422202"/>
            <a:ext cx="366712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NexTech Career App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60875" y="1793677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86201" y="1793677"/>
            <a:ext cx="133679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Mobile-first design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0875" y="2090738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86201" y="2090738"/>
            <a:ext cx="2051033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Data-light, works on prepaid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0875" y="2387798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86201" y="2387798"/>
            <a:ext cx="2060341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AI-powered career coaching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0875" y="2684859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86201" y="2684859"/>
            <a:ext cx="216096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Built for South African context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0875" y="2981920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86201" y="2981920"/>
            <a:ext cx="2069473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Interview preparation built-in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0875" y="3278981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86201" y="3278981"/>
            <a:ext cx="1822204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Core features free to use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60875" y="3576042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86201" y="3576042"/>
            <a:ext cx="230761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Simple, guided user experience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60875" y="3873103"/>
            <a:ext cx="16097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86201" y="3873103"/>
            <a:ext cx="2157984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Offline capability with caching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65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spc="200" kern="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TEST — 5 MARKS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507802"/>
            <a:ext cx="321333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CAHAU Feedback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987177"/>
            <a:ext cx="3860750" cy="816322"/>
          </a:xfrm>
          <a:prstGeom prst="roundRect">
            <a:avLst>
              <a:gd name="adj" fmla="val 12446"/>
            </a:avLst>
          </a:prstGeom>
          <a:solidFill>
            <a:srgbClr val="6366F1">
              <a:alpha val="8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525" y="1098203"/>
            <a:ext cx="3713745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"This is exactly what candidates need — most applicants fail because they don't know how to present themselves"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1525" y="1540073"/>
            <a:ext cx="38905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 CAHAU Rep, Job Interview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1905000"/>
            <a:ext cx="3860750" cy="816322"/>
          </a:xfrm>
          <a:prstGeom prst="roundRect">
            <a:avLst>
              <a:gd name="adj" fmla="val 12446"/>
            </a:avLst>
          </a:prstGeom>
          <a:solidFill>
            <a:srgbClr val="14B8A6">
              <a:alpha val="8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" y="2016026"/>
            <a:ext cx="3713745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"The AI interview coach is remarkable — it simulates real interview pressure and gives constructive feedback"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1525" y="2457896"/>
            <a:ext cx="38905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 CAHAU Rep, Hiring Panel Member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7301" y="987177"/>
            <a:ext cx="3860750" cy="816322"/>
          </a:xfrm>
          <a:prstGeom prst="roundRect">
            <a:avLst>
              <a:gd name="adj" fmla="val 12446"/>
            </a:avLst>
          </a:prstGeom>
          <a:solidFill>
            <a:srgbClr val="6366F1">
              <a:alpha val="8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59226" y="1098203"/>
            <a:ext cx="3713745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"I would recommend this to every first-time job seeker I encounter"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9226" y="1540073"/>
            <a:ext cx="38905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 CAHAU Rep, Recruitment Specialist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7301" y="1905000"/>
            <a:ext cx="3860750" cy="816322"/>
          </a:xfrm>
          <a:prstGeom prst="roundRect">
            <a:avLst>
              <a:gd name="adj" fmla="val 12446"/>
            </a:avLst>
          </a:prstGeom>
          <a:solidFill>
            <a:srgbClr val="14B8A6">
              <a:alpha val="8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59226" y="2016026"/>
            <a:ext cx="3713745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"The resume analyser catches issues that even experienced candidates miss"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9226" y="2457896"/>
            <a:ext cx="38905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 CAHAU Rep, HR Professional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600" y="2924324"/>
            <a:ext cx="7924800" cy="587127"/>
          </a:xfrm>
          <a:prstGeom prst="roundRect">
            <a:avLst>
              <a:gd name="adj" fmla="val 17305"/>
            </a:avLst>
          </a:prstGeom>
          <a:solidFill>
            <a:srgbClr val="14B8A6">
              <a:alpha val="10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035350"/>
            <a:ext cx="8249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Improvements Made Based on Feedback: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275" y="3238500"/>
            <a:ext cx="192283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 Added Data-Light Mode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4945" y="3238500"/>
            <a:ext cx="173018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 Simplified Navigation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24350" y="3238500"/>
            <a:ext cx="195936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 Added Onboarding Flow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spc="200" kern="0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34901"/>
            <a:ext cx="3345418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Our Path Forward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09526"/>
            <a:ext cx="2438400" cy="1593652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228576"/>
            <a:ext cx="24384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7301" y="1450777"/>
            <a:ext cx="24579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Accessible Technology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7301" y="1761827"/>
            <a:ext cx="21871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Mobile-first, data-light AI tools that work for every South African youth, regardless of device or connectivity.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25701" y="1209526"/>
            <a:ext cx="2438400" cy="1593652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25701" y="1228576"/>
            <a:ext cx="243840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3402" y="1450777"/>
            <a:ext cx="24579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Empowered Youth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03402" y="1761827"/>
            <a:ext cx="21871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Professional career development resources that transform job seekers from invisible applicants to confident candidates.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41802" y="1209526"/>
            <a:ext cx="2438400" cy="1593652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841802" y="1228576"/>
            <a:ext cx="24384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9502" y="1450777"/>
            <a:ext cx="24579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Systemic Impact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19502" y="1761827"/>
            <a:ext cx="21871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Bridging the gap between unemployment and opportunity at scale, creating lasting change in SA's employment landscape.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600" y="2980879"/>
            <a:ext cx="1879550" cy="933152"/>
          </a:xfrm>
          <a:prstGeom prst="roundRect">
            <a:avLst>
              <a:gd name="adj" fmla="val 13610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0857" y="3168104"/>
            <a:ext cx="2077036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46.1%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1367" y="3574405"/>
            <a:ext cx="17760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Youth Unemployment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66851" y="2980879"/>
            <a:ext cx="1879550" cy="933152"/>
          </a:xfrm>
          <a:prstGeom prst="roundRect">
            <a:avLst>
              <a:gd name="adj" fmla="val 13610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68108" y="3168104"/>
            <a:ext cx="2077036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73%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718618" y="3574405"/>
            <a:ext cx="17760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Mobile-Only 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24102" y="2980879"/>
            <a:ext cx="1879550" cy="933152"/>
          </a:xfrm>
          <a:prstGeom prst="roundRect">
            <a:avLst>
              <a:gd name="adj" fmla="val 13610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25359" y="3168104"/>
            <a:ext cx="2077036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87%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30716" y="3574405"/>
            <a:ext cx="18663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Need CV Help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81354" y="2980879"/>
            <a:ext cx="1879550" cy="933152"/>
          </a:xfrm>
          <a:prstGeom prst="roundRect">
            <a:avLst>
              <a:gd name="adj" fmla="val 13610"/>
            </a:avLst>
          </a:prstGeom>
          <a:solidFill>
            <a:srgbClr val="262626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682611" y="3168104"/>
            <a:ext cx="2077036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100%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87967" y="3574405"/>
            <a:ext cx="18663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Our Commitment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nextech-ppt/images/closing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1A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08450" y="111844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550194"/>
            <a:ext cx="8595360" cy="62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spcAft>
                <a:spcPts val="12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267200" y="2281684"/>
            <a:ext cx="609600" cy="381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759809" y="2573685"/>
            <a:ext cx="1624382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6366F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NexTech Group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95134" y="3076575"/>
            <a:ext cx="455358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Mohau Mphanya  ·  Sive Mtengwana  ·  Lesedi Ledwaba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57667" y="3381375"/>
            <a:ext cx="5228518" cy="226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spcAft>
                <a:spcPts val="160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Technopreneurship NTEC62110  |  Sol Plaatje University  |  June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57066" y="3794075"/>
            <a:ext cx="282972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14B8A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Together, we can bridge the gap.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2026-05-14T08:21:08Z</dcterms:created>
  <dcterms:modified xsi:type="dcterms:W3CDTF">2026-05-14T08:21:08Z</dcterms:modified>
</cp:coreProperties>
</file>