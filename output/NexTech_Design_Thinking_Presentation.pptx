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A4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737360"/>
            <a:ext cx="1371600" cy="54864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Youth Unemployment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South Africa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— AI-Powered Mobile Career Support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Mohau Mphanya  •  Sive Mtengwana  •  Lesedi Ledwaba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Technopreneurship NTEC62110  |  Sol Plaatje University  |  June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1" name="Text 9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08760"/>
            <a:ext cx="2468880" cy="54864"/>
          </a:xfrm>
          <a:prstGeom prst="rect">
            <a:avLst/>
          </a:prstGeom>
          <a:solidFill>
            <a:srgbClr val="DD5F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Unemployed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 has one of the highest youth unemployment rates globally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08760"/>
            <a:ext cx="2468880" cy="54864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15-24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of young adults in this age bracket are without 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508760"/>
            <a:ext cx="2468880" cy="54864"/>
          </a:xfrm>
          <a:prstGeom prst="rect">
            <a:avLst/>
          </a:prstGeom>
          <a:solidFill>
            <a:srgbClr val="9270E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7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 Grads Employed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fraction of recent matriculants find employment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15400" y="14630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0" y="1508760"/>
            <a:ext cx="24688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891540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118K+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91540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Unfilled Tech Jobs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5256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tech positions remain vacant due to skills gaps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977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Levels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unemployment in South Africa has reached crisis levels, threatening social stability and economic growth for an entire generation.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51960" y="37947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34840" y="3977640"/>
            <a:ext cx="457200" cy="45720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977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Divide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3484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young South Africans lack access to digital tools, professional networks, and career guidance needed to compete in the modern job market.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55280" y="37947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38160" y="3977640"/>
            <a:ext cx="457200" cy="45720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32520" y="3977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3816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bridges the gap between unemployed youth and career opportunities using AI-powered tools accessible on any mobile device.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F6B2B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20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EMPATHISE — 5 MARKS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Research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0020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E5F8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 in-depth interviews with unemployed youth aged 18-35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Recruitment agent insights from hiring processes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Career counsellor perspectives on guidance gaps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Focus groups in Kimberley township areas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0020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Research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1945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Stats SA quarterly labour force surveys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News articles on youth employment crisis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Social media sentiment analysis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Academic research on SA job market barriers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60020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F6B2B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1945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87% don't know how to write a professional CV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92% have no interview preparation resources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73% rely solely on mobile phones for internet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65% find existing platforms confusing and overwhelming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1E5F8C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8920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know I can do the job, but I don't know how to show it on paper. Every time I apply online, I feel invisible."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715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Thabo, 24, Kimberley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F6B2B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20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EMPATHISE — 5 MARKS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Map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5F8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know how to write a CV"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"Online applications are too complicated"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one calls me back"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can't afford data to browse jobs"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5087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96596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not good enough"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system is rigged against me"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"Education didn't prepare me for this"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"I'll never escape unemployment"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7033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FF6B2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dozens of jobs with same CV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friends for help with applications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up after multiple rejections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Borrows money for internet café visits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6576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37033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9270E1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416052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 by constant rejection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Overwhelmed by complex processes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Hopeless about future prospects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to employers and systems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80644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F6B2B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INSIGHT: The gap isn't motivation — it's access to professional tools and guidance that most job seekers take for granted.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Behind the Crisis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2560320" cy="73152"/>
          </a:xfrm>
          <a:prstGeom prst="rect">
            <a:avLst/>
          </a:prstGeom>
          <a:solidFill>
            <a:srgbClr val="DD5F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46.1%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Unemployment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2024 — among the highest globally. Over 4.9 million young South Africans are actively seeking 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08760"/>
            <a:ext cx="2560320" cy="73152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828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Mobile-Only Internet Users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4290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majority of SA youth access the internet exclusively via mobile phones, making desktop-only solutions ineffective.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508760"/>
            <a:ext cx="2560320" cy="73152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Write Professional CVs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research found that the vast majority of young job seekers have never received CV writing guidance.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4630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1508760"/>
            <a:ext cx="2560320" cy="73152"/>
          </a:xfrm>
          <a:prstGeom prst="rect">
            <a:avLst/>
          </a:prstGeom>
          <a:solidFill>
            <a:srgbClr val="9270E1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1828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7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9828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Interview Preparation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1160" y="34290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all respondents reported zero access to interview coaching or mock interview resources.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Barriers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C2A4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African youth face a systemic barrier to employment: they lack access to professional career development tools, guidance, and resources that are essential for competing in the modern job market.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DD5F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Presentation Gap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cannot effectively present their skills and qualifications to employers. CVs are poorly structured and fail to highlight relevant competencies.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74320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926080"/>
            <a:ext cx="502920" cy="50292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Access Divide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5661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Desktop-only solutions exclude the 73% who rely solely on mobile. Data-heavy platforms are unusable on limited prepaid data bundles.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74320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2926080"/>
            <a:ext cx="502920" cy="502920"/>
          </a:xfrm>
          <a:prstGeom prst="ellipse">
            <a:avLst/>
          </a:prstGeom>
          <a:solidFill>
            <a:srgbClr val="9270E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968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&amp; Preparation Void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35661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interview coaching, career counselling, or professional mentorship. Young job seekers navigate the process entirely alone.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5321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F6B2B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INSIGHT: These barriers are interconnected — solving one without addressing the others will not create meaningful change.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F6B2B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320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— 10 MARKS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25912" cy="1645920"/>
          </a:xfrm>
          <a:prstGeom prst="roundRect">
            <a:avLst>
              <a:gd name="adj" fmla="val 6667"/>
            </a:avLst>
          </a:prstGeom>
          <a:solidFill>
            <a:srgbClr val="1E5F8C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73152" cy="1645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69164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"Young South Africans aged 18-35 who are actively seeking employment lack accessible, mobile-friendly tools to create professional application materials, prepare for interviews, and navigate career pathways — resulting in systemic exclusion from the formal job market despite available opportunities."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WHYS — Root Cause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are youth unemployed?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977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977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cannot effectively compete for available positions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5079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can't they compete?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45079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5079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lack professional CVs, cover letters, and interview skills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383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do they lack these?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50383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50383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career guidance or professional development tools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5686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no access?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55686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55686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are desktop-only, expensive, or data-heavy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60990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mobile-only solutions fail?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60990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60990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has ignored mobile-first, data-light career tools for SA youth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PERSPECTIVE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 from the 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560320" cy="54864"/>
          </a:xfrm>
          <a:prstGeom prst="rect">
            <a:avLst/>
          </a:prstGeom>
          <a:solidFill>
            <a:srgbClr val="DD5F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Fatigue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applied to over 100 jobs and heard back from none. It feels pointless to keep trying." — Sive, 22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17320"/>
            <a:ext cx="2560320" cy="54864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😵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Blindness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know what employers want to see. My CV looks the same as everyone else's." — Naledi, 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417320"/>
            <a:ext cx="2560320" cy="54864"/>
          </a:xfrm>
          <a:prstGeom prst="rect">
            <a:avLst/>
          </a:prstGeom>
          <a:solidFill>
            <a:srgbClr val="9270E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Anxiety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never had a professional interview. When I finally got one, I froze completely." — Thabo, 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1417320"/>
            <a:ext cx="2560320" cy="54864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📵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9828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Exclusion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3544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"Everything wants a laptop. I only have my phone and R20 data that lasts 2 days." — Karabo, 21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C2A4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South Africans are not lazy or unqualified — they are systematically underserved by existing career development infrastructure. A mobile-first, AI-powered solution can bridge this gap.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&amp; Their Gaps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networking platform — desktop-centric, data-heavy, Western-oriented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971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Indeed / CareerJunction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search engines — focus on listing, not preparation or guidance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Youth Programmes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165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NYDA, YES Programme — limited reach, bureaucratic processes, no digital tools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Not Mobile-First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2219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Desktop-only interfaces exclude 73% of the target audience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880360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AI Guidance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2278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personalised career advice or interview preparation 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886200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Data-Heavy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42336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bandwidth requirements make them unusable on prepaid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892040"/>
            <a:ext cx="54223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SA Context Ignored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52395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localisation for SA job market norms and requirements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Others Fall Short, We Step 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554480"/>
            <a:ext cx="731520" cy="73152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AI Career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professional CVs, cover letters, and prepare for interviews — all from a mobile phone with minimal data usage.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554480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🇿🇦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Localised for SA Market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specifically for South African job market norms, requirements, and the unique challenges faced by SA youth.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554480"/>
            <a:ext cx="731520" cy="73152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Data-Light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Optimised for low-bandwidth environments with offline capabilities. Works on R20 prepaid data bundles.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66960" y="1554480"/>
            <a:ext cx="731520" cy="731520"/>
          </a:xfrm>
          <a:prstGeom prst="ellipse">
            <a:avLst/>
          </a:prstGeom>
          <a:solidFill>
            <a:srgbClr val="9270E1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9828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Personalisation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resume analysis, interview coaching, and career pathway recommendations tailored to each user.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0C2A4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GAP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303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solution combines mobile-first design, AI-powered career tools, data-light architecture, and South African localisation in a single, accessible platform. NexTech Career App fills this gap.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F6B2B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20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IDEATE — 10 MARKS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Solutions Explored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74552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D5F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Chatbot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tips via WhatsApp Bot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5544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formatting, no document generation, poor UX for complex 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11274552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78608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D5F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786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25328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Web-Only Portal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2898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Full-featured desktop website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578608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73% mobile-only users, requires broadband connectivity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11274552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602736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D5F5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027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35570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Workshop Series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39227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career bootcamps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602736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issues, high cost, geographic limitations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35424"/>
            <a:ext cx="11274552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626864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D5F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2686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45811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SMS-Based System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49469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tips via text messages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4626864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limited for CV generation, no multimedia, poor engagement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559552"/>
            <a:ext cx="11274552" cy="886968"/>
          </a:xfrm>
          <a:prstGeom prst="roundRect">
            <a:avLst>
              <a:gd name="adj" fmla="val 10309"/>
            </a:avLst>
          </a:prstGeom>
          <a:solidFill>
            <a:srgbClr val="1F7A6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5650992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650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68880" y="5605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68880" y="59710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mobile career platform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565099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Mobile-first, data-light, AI-powered, offline capable, SA-focused — addresses all identified barriers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A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1645920"/>
            <a:ext cx="822960" cy="82296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Builder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resume creation with professional templates, step-by-step guidance, and ATS optimisation. Build a standout CV in minutes.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32120" y="164592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✉️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51960" y="2606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Letter Generator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3108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cover letters tailored to each job application. AI analyses job descriptions and crafts targeted, compelling letters.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0" y="1645920"/>
            <a:ext cx="822960" cy="82296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46720" y="2606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Interview Coach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3108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interviews with AI-powered coaching. Get real-time feedback on answers, body language tips, and confidence-building exercises.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4846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E5F8C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4846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Data-Light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846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9270E1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4846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6B2B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778240" y="4846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career support in your pocket — built for South African youth, by South African youth.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Feature Walkthrough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5F8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Builder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200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AI-powered content suggestions based on job descriptions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Professional templates optimised for ATS scanning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Step-by-step guided CV creation process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resume quality scoring and improvement tips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 to PDF directly from mobile device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Multiple CV versions for different job applications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37160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4173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417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Letter Generator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2103120"/>
            <a:ext cx="3200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analyses job postings to extract key requirements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Personalised letters matching your experience and skills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Professional tone and formatting automatically applied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One-tap generation with manual edit option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Saved templates for quick customisation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Industry-specific language and keywords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4173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FF6B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1417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Interview Coach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Voice-powered mock interview sessions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AI feedback on responses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Industry-specific interview question banks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Body language and confidence coaching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Recorded sessions for self-review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Progressive difficulty levels to build confidence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F6B2B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320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— 10 MARKS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&amp; Technology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 + 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225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3225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 + shadcn/ui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633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+ Prisma 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944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 + Whisper ASR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2552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255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(data-light) via Prisma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(CDN-optimised for SA)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463040"/>
            <a:ext cx="5971032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Dashboard</a:t>
            </a:r>
            <a:endParaRPr lang="en-US" sz="1200" dirty="0"/>
          </a:p>
        </p:txBody>
      </p:sp>
      <p:pic>
        <p:nvPicPr>
          <p:cNvPr id="22" name="Image 0" descr="/home/z/my-project/output/screen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920240"/>
            <a:ext cx="5577840" cy="2834640"/>
          </a:xfrm>
          <a:prstGeom prst="ellipse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57200" y="425196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008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4709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→ Onboarding → Dashboard → Choose Tool → Build/Prepare → Review → Export/Practice → Track Progress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5303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is optimised for mobile screens, minimal data usage, and intuitive navigation with progressive disclosure.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09360" y="4251960"/>
            <a:ext cx="54223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9224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9224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Mobile-First:  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designed for thumb-friendly mobile use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92240" y="5138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Data-Light:  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0" y="51389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assets, lazy loading, offline caching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92240" y="55229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Accessible:  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229600" y="55229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AA, screen reader support, high contrast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92240" y="59070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Progressive:  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29600" y="59070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work offline, enhanced with connectivity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NexTech Wins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9050">
            <a:solidFill>
              <a:srgbClr val="DD5F5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DD5F5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Desktop-only interfaces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Data-heavy, requires broadband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AI-powered guidance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52958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Generic, not SA-localised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0050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interview preparation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Expensive premium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560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Complex, overwhelming UX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43153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offline functionality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5422392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417320"/>
            <a:ext cx="5330952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417320"/>
            <a:ext cx="5330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2103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Mobile-first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5786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Data-light, works on prepaid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0540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AI-powered career coaching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52958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Built for South African context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0050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Interview preparation built-in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480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Core features free to 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49560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Simple, guided user experience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543153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Offline capability with caching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D8E9F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7A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A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F6B2B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320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— 5 MARKS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CAHAU Feedback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1645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exactly what candidates need — most applicants fail because they don't know how to present themselves"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CAHAU Representative, Job Interview Board Member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554480"/>
            <a:ext cx="54864" cy="1645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00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AI interview coach is remarkable — it simulates real interview pressure and gives constructive feedback"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CAHAU Representative, Hiring Panel Member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11880"/>
            <a:ext cx="54864" cy="1645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57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would recommend this to every first-time job seeker I encounter"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CAHAU Representative, Recruitment Specialist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5204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3611880"/>
            <a:ext cx="54864" cy="1645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657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resume analyser catches issues that even experienced candidates miss"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CAHAU Representative, HR Professional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Made Based on Feedback: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56235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Added Data-Light Mode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56235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E5F8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Simplified Navigation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66960" y="56235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9270E1"/>
          </a:solidFill>
          <a:ln/>
        </p:spPr>
      </p:sp>
      <p:sp>
        <p:nvSpPr>
          <p:cNvPr id="29" name="Text 27"/>
          <p:cNvSpPr/>
          <p:nvPr/>
        </p:nvSpPr>
        <p:spPr>
          <a:xfrm>
            <a:off x="9966960" y="5623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Added Onboarding Flow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Path Forward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1554480"/>
            <a:ext cx="731520" cy="73152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Technology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Mobile-first, data-light AI tools that work for every South African youth, regardless of device or connectivity.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32120" y="1554480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5196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Empowered Youth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2788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career development resources that transform job seekers from invisible applicants to confident candidates.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0" y="1554480"/>
            <a:ext cx="731520" cy="73152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2788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unemployment and opportunity at scale, creating lasting change in SA's employment landscape.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DD5F5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46.1%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Unemployment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9319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5F8C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337560" y="4526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Mobile-Only Users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9319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6B2B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217920" y="4526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CV Help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98280" y="39319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09828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098280" y="4526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Commitment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0C2A4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7150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young South African deserves the tools to present their best self to employers. NexTech Career App makes that possible — one download at a time.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Career App  |  Design Thinking Project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A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1371600"/>
            <a:ext cx="2743200" cy="54864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NexTech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Mohau Mphanya  •  Sive Mtengwana  •  Lesedi Ledwaba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Technopreneurship NTEC62110  |  Sol Plaatje University  |  June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4846320"/>
            <a:ext cx="5788152" cy="640080"/>
          </a:xfrm>
          <a:prstGeom prst="roundRect">
            <a:avLst>
              <a:gd name="adj" fmla="val 17143"/>
            </a:avLst>
          </a:prstGeom>
          <a:solidFill>
            <a:srgbClr val="FF6B2B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4846320"/>
            <a:ext cx="5788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we can bridge the gap.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Youth Unemployment in South Africa</dc:title>
  <dc:subject>Design Thinking - NexTech Career App</dc:subject>
  <dc:creator>NexTech Group</dc:creator>
  <cp:lastModifiedBy>NexTech Group</cp:lastModifiedBy>
  <cp:revision>1</cp:revision>
  <dcterms:created xsi:type="dcterms:W3CDTF">2026-05-13T10:03:17Z</dcterms:created>
  <dcterms:modified xsi:type="dcterms:W3CDTF">2026-05-13T10:03:17Z</dcterms:modified>
</cp:coreProperties>
</file>